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ookmania Bold" charset="1" panose="00000800000000000000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5"/>
    </p:embeddedFont>
    <p:embeddedFont>
      <p:font typeface="Calibri (MS) Italics" charset="1" panose="020F05020202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17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1.png" Type="http://schemas.openxmlformats.org/officeDocument/2006/relationships/image"/><Relationship Id="rId5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16068" cy="10287000"/>
            <a:chOff x="0" y="0"/>
            <a:chExt cx="6821424" cy="13716000"/>
          </a:xfrm>
        </p:grpSpPr>
        <p:sp>
          <p:nvSpPr>
            <p:cNvPr name="Freeform 3" id="3" descr="assets/books_pattern.jpeg"/>
            <p:cNvSpPr/>
            <p:nvPr/>
          </p:nvSpPr>
          <p:spPr>
            <a:xfrm flipH="false" flipV="false" rot="0">
              <a:off x="0" y="0"/>
              <a:ext cx="682142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821424">
                  <a:moveTo>
                    <a:pt x="0" y="0"/>
                  </a:moveTo>
                  <a:lnTo>
                    <a:pt x="6821424" y="0"/>
                  </a:lnTo>
                  <a:lnTo>
                    <a:pt x="682142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4999"/>
              </a:blip>
              <a:stretch>
                <a:fillRect l="-50536" t="0" r="-5053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67360" y="0"/>
            <a:ext cx="5116068" cy="10287000"/>
            <a:chOff x="0" y="0"/>
            <a:chExt cx="6821424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142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821424">
                  <a:moveTo>
                    <a:pt x="0" y="0"/>
                  </a:moveTo>
                  <a:lnTo>
                    <a:pt x="6821424" y="0"/>
                  </a:lnTo>
                  <a:lnTo>
                    <a:pt x="682142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E3B30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94860" y="2400300"/>
            <a:ext cx="8503920" cy="1508760"/>
            <a:chOff x="0" y="0"/>
            <a:chExt cx="1133856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385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824" r="0" b="-5982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33856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SalaAbierta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94860" y="3771900"/>
            <a:ext cx="8503920" cy="685800"/>
            <a:chOff x="0" y="0"/>
            <a:chExt cx="1133856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38560" cy="914400"/>
            </a:xfrm>
            <a:custGeom>
              <a:avLst/>
              <a:gdLst/>
              <a:ahLst/>
              <a:cxnLst/>
              <a:rect r="r" b="b" t="t" l="l"/>
              <a:pathLst>
                <a:path h="9144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3385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0A2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Propuesta para CAPSTONE — DUOC UC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94860" y="4869180"/>
            <a:ext cx="7825556" cy="3912778"/>
            <a:chOff x="0" y="0"/>
            <a:chExt cx="10058400" cy="502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0" cy="5029200"/>
            </a:xfrm>
            <a:custGeom>
              <a:avLst/>
              <a:gdLst/>
              <a:ahLst/>
              <a:cxnLst/>
              <a:rect r="r" b="b" t="t" l="l"/>
              <a:pathLst>
                <a:path h="5029200" w="10058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9893808" y="0"/>
                  </a:lnTo>
                  <a:cubicBezTo>
                    <a:pt x="9984740" y="0"/>
                    <a:pt x="10058400" y="73660"/>
                    <a:pt x="10058400" y="164592"/>
                  </a:cubicBezTo>
                  <a:lnTo>
                    <a:pt x="10058400" y="4864608"/>
                  </a:lnTo>
                  <a:cubicBezTo>
                    <a:pt x="10058400" y="4955540"/>
                    <a:pt x="9984740" y="5029200"/>
                    <a:pt x="9893808" y="5029200"/>
                  </a:cubicBezTo>
                  <a:lnTo>
                    <a:pt x="164592" y="5029200"/>
                  </a:lnTo>
                  <a:cubicBezTo>
                    <a:pt x="73660" y="5029200"/>
                    <a:pt x="0" y="4955540"/>
                    <a:pt x="0" y="4864608"/>
                  </a:cubicBezTo>
                  <a:close/>
                </a:path>
              </a:pathLst>
            </a:custGeom>
            <a:solidFill>
              <a:srgbClr val="5C48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43500" y="4869180"/>
            <a:ext cx="6515100" cy="4132941"/>
            <a:chOff x="0" y="0"/>
            <a:chExt cx="8686800" cy="55105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5510588"/>
            </a:xfrm>
            <a:custGeom>
              <a:avLst/>
              <a:gdLst/>
              <a:ahLst/>
              <a:cxnLst/>
              <a:rect r="r" b="b" t="t" l="l"/>
              <a:pathLst>
                <a:path h="5510588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5510588"/>
                  </a:lnTo>
                  <a:lnTo>
                    <a:pt x="0" y="55105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775" t="0" r="-10775" b="253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8686800" cy="56153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Integrantes</a:t>
              </a: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Fernando Pavez — Desarrollador Backend y Datos</a:t>
              </a: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Catalina Aguilar — Arquitecta de Software / Frontend Móvil</a:t>
              </a: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Sección: Capstone_001D</a:t>
              </a: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Profesor: Felipe Antonio Krauss Benavente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8846820"/>
            <a:ext cx="2743200" cy="672084"/>
            <a:chOff x="0" y="0"/>
            <a:chExt cx="3657600" cy="896112"/>
          </a:xfrm>
        </p:grpSpPr>
        <p:sp>
          <p:nvSpPr>
            <p:cNvPr name="Freeform 18" id="18" descr="assets/duocuc_logo.png"/>
            <p:cNvSpPr/>
            <p:nvPr/>
          </p:nvSpPr>
          <p:spPr>
            <a:xfrm flipH="false" flipV="false" rot="0">
              <a:off x="0" y="0"/>
              <a:ext cx="3657600" cy="896112"/>
            </a:xfrm>
            <a:custGeom>
              <a:avLst/>
              <a:gdLst/>
              <a:ahLst/>
              <a:cxnLst/>
              <a:rect r="r" b="b" t="t" l="l"/>
              <a:pathLst>
                <a:path h="89611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96112"/>
                  </a:lnTo>
                  <a:lnTo>
                    <a:pt x="0" y="896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0" r="0" b="-17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1829868"/>
            <a:ext cx="3092064" cy="3884065"/>
            <a:chOff x="0" y="0"/>
            <a:chExt cx="5945111" cy="74678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5124" cy="7467854"/>
            </a:xfrm>
            <a:custGeom>
              <a:avLst/>
              <a:gdLst/>
              <a:ahLst/>
              <a:cxnLst/>
              <a:rect r="r" b="b" t="t" l="l"/>
              <a:pathLst>
                <a:path h="7467854" w="5945124">
                  <a:moveTo>
                    <a:pt x="0" y="0"/>
                  </a:moveTo>
                  <a:lnTo>
                    <a:pt x="5945124" y="0"/>
                  </a:lnTo>
                  <a:lnTo>
                    <a:pt x="5945124" y="7467854"/>
                  </a:lnTo>
                  <a:lnTo>
                    <a:pt x="0" y="7467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628" t="-19274" r="-15204" b="-3142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9360" cy="10287000"/>
            <a:chOff x="0" y="0"/>
            <a:chExt cx="84124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309360" cy="10287000"/>
            <a:chOff x="0" y="0"/>
            <a:chExt cx="8412480" cy="13716000"/>
          </a:xfrm>
        </p:grpSpPr>
        <p:sp>
          <p:nvSpPr>
            <p:cNvPr name="Freeform 5" id="5" descr="assets/books_pattern.jpeg"/>
            <p:cNvSpPr/>
            <p:nvPr/>
          </p:nvSpPr>
          <p:spPr>
            <a:xfrm flipH="false" flipV="false" rot="0">
              <a:off x="0" y="0"/>
              <a:ext cx="8412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999"/>
              </a:blip>
              <a:stretch>
                <a:fillRect l="-31521" t="0" r="-3152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063740" y="822960"/>
            <a:ext cx="9601200" cy="1234440"/>
            <a:chOff x="0" y="0"/>
            <a:chExt cx="1280160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28016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Índice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63740" y="2125980"/>
            <a:ext cx="9601200" cy="685800"/>
            <a:chOff x="0" y="0"/>
            <a:chExt cx="128016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  Problema y relevancia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5160">
            <a:off x="7056587" y="2834450"/>
            <a:ext cx="9478337" cy="0"/>
          </a:xfrm>
          <a:prstGeom prst="line">
            <a:avLst/>
          </a:prstGeom>
          <a:ln cap="rnd" w="9525">
            <a:solidFill>
              <a:srgbClr val="D9C7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063740" y="2900934"/>
            <a:ext cx="9601200" cy="685800"/>
            <a:chOff x="0" y="0"/>
            <a:chExt cx="128016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 Perfil de egreso e intereses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5160">
            <a:off x="7056587" y="3609404"/>
            <a:ext cx="9478337" cy="0"/>
          </a:xfrm>
          <a:prstGeom prst="line">
            <a:avLst/>
          </a:prstGeom>
          <a:ln cap="rnd" w="9525">
            <a:solidFill>
              <a:srgbClr val="D9C7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7063740" y="3675888"/>
            <a:ext cx="9601200" cy="685800"/>
            <a:chOff x="0" y="0"/>
            <a:chExt cx="128016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 Objetivos del proyecto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5160">
            <a:off x="7056587" y="4384358"/>
            <a:ext cx="9478337" cy="0"/>
          </a:xfrm>
          <a:prstGeom prst="line">
            <a:avLst/>
          </a:prstGeom>
          <a:ln cap="rnd" w="9525">
            <a:solidFill>
              <a:srgbClr val="D9C7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7063740" y="4450842"/>
            <a:ext cx="9601200" cy="685800"/>
            <a:chOff x="0" y="0"/>
            <a:chExt cx="128016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 Producto Mínimo Viable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5160">
            <a:off x="7056587" y="5159312"/>
            <a:ext cx="9478337" cy="0"/>
          </a:xfrm>
          <a:prstGeom prst="line">
            <a:avLst/>
          </a:prstGeom>
          <a:ln cap="rnd" w="9525">
            <a:solidFill>
              <a:srgbClr val="D9C7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7063740" y="5225796"/>
            <a:ext cx="9601200" cy="685800"/>
            <a:chOff x="0" y="0"/>
            <a:chExt cx="128016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 Arquitectura y stack tecnológico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5160">
            <a:off x="7056587" y="5934266"/>
            <a:ext cx="9478337" cy="0"/>
          </a:xfrm>
          <a:prstGeom prst="line">
            <a:avLst/>
          </a:prstGeom>
          <a:ln cap="rnd" w="9525">
            <a:solidFill>
              <a:srgbClr val="D9C7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7063740" y="6000750"/>
            <a:ext cx="9601200" cy="685800"/>
            <a:chOff x="0" y="0"/>
            <a:chExt cx="128016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 Épicas del backlog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5160">
            <a:off x="7056587" y="6709220"/>
            <a:ext cx="9478337" cy="0"/>
          </a:xfrm>
          <a:prstGeom prst="line">
            <a:avLst/>
          </a:prstGeom>
          <a:ln cap="rnd" w="9525">
            <a:solidFill>
              <a:srgbClr val="D9C7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7063740" y="6775704"/>
            <a:ext cx="9601200" cy="685800"/>
            <a:chOff x="0" y="0"/>
            <a:chExt cx="128016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 Metodología y plan de trabajo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5160">
            <a:off x="7056587" y="7484174"/>
            <a:ext cx="9478337" cy="0"/>
          </a:xfrm>
          <a:prstGeom prst="line">
            <a:avLst/>
          </a:prstGeom>
          <a:ln cap="rnd" w="9525">
            <a:solidFill>
              <a:srgbClr val="D9C7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7063740" y="7550658"/>
            <a:ext cx="9601200" cy="685800"/>
            <a:chOff x="0" y="0"/>
            <a:chExt cx="128016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 Factibilidad y mitigación de riesgos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5160">
            <a:off x="7056587" y="8259128"/>
            <a:ext cx="9478337" cy="0"/>
          </a:xfrm>
          <a:prstGeom prst="line">
            <a:avLst/>
          </a:prstGeom>
          <a:ln cap="rnd" w="9525">
            <a:solidFill>
              <a:srgbClr val="D9C7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7063740" y="8325612"/>
            <a:ext cx="9601200" cy="685800"/>
            <a:chOff x="0" y="0"/>
            <a:chExt cx="128016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 Evidencias de logro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5160">
            <a:off x="7056587" y="9034082"/>
            <a:ext cx="9478337" cy="0"/>
          </a:xfrm>
          <a:prstGeom prst="line">
            <a:avLst/>
          </a:prstGeom>
          <a:ln cap="rnd" w="9525">
            <a:solidFill>
              <a:srgbClr val="D9C7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7063740" y="9100566"/>
            <a:ext cx="9601200" cy="685800"/>
            <a:chOff x="0" y="0"/>
            <a:chExt cx="128016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801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2801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 Cierre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08648" y="3283764"/>
            <a:ext cx="3092064" cy="3884065"/>
            <a:chOff x="0" y="0"/>
            <a:chExt cx="5945111" cy="74678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45124" cy="7467854"/>
            </a:xfrm>
            <a:custGeom>
              <a:avLst/>
              <a:gdLst/>
              <a:ahLst/>
              <a:cxnLst/>
              <a:rect r="r" b="b" t="t" l="l"/>
              <a:pathLst>
                <a:path h="7467854" w="5945124">
                  <a:moveTo>
                    <a:pt x="0" y="0"/>
                  </a:moveTo>
                  <a:lnTo>
                    <a:pt x="5945124" y="0"/>
                  </a:lnTo>
                  <a:lnTo>
                    <a:pt x="5945124" y="7467854"/>
                  </a:lnTo>
                  <a:lnTo>
                    <a:pt x="0" y="7467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628" t="-19274" r="-15204" b="-3142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CONTEXTO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El problema y la relevancia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5143500" cy="6240780"/>
            <a:chOff x="0" y="0"/>
            <a:chExt cx="6858000" cy="832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8321040"/>
            </a:xfrm>
            <a:custGeom>
              <a:avLst/>
              <a:gdLst/>
              <a:ahLst/>
              <a:cxnLst/>
              <a:rect r="r" b="b" t="t" l="l"/>
              <a:pathLst>
                <a:path h="8321040" w="6858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693408" y="0"/>
                  </a:lnTo>
                  <a:cubicBezTo>
                    <a:pt x="6784340" y="0"/>
                    <a:pt x="6858000" y="73660"/>
                    <a:pt x="6858000" y="164592"/>
                  </a:cubicBezTo>
                  <a:lnTo>
                    <a:pt x="6858000" y="8156448"/>
                  </a:lnTo>
                  <a:cubicBezTo>
                    <a:pt x="6858000" y="8247380"/>
                    <a:pt x="6784340" y="8321040"/>
                    <a:pt x="6693408" y="8321040"/>
                  </a:cubicBezTo>
                  <a:lnTo>
                    <a:pt x="164592" y="8321040"/>
                  </a:lnTo>
                  <a:cubicBezTo>
                    <a:pt x="73660" y="8321040"/>
                    <a:pt x="0" y="8247380"/>
                    <a:pt x="0" y="815644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3360420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0769" y="3638169"/>
            <a:ext cx="678942" cy="678942"/>
            <a:chOff x="0" y="0"/>
            <a:chExt cx="905256" cy="905256"/>
          </a:xfrm>
        </p:grpSpPr>
        <p:sp>
          <p:nvSpPr>
            <p:cNvPr name="Freeform 13" id="13" descr="assets/icons/problema_FFFFFF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4937760"/>
            <a:ext cx="4183380" cy="685800"/>
            <a:chOff x="0" y="0"/>
            <a:chExt cx="557784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77840" cy="914400"/>
            </a:xfrm>
            <a:custGeom>
              <a:avLst/>
              <a:gdLst/>
              <a:ahLst/>
              <a:cxnLst/>
              <a:rect r="r" b="b" t="t" l="l"/>
              <a:pathLst>
                <a:path h="9144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58" r="0" b="-688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577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El problema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5692140"/>
            <a:ext cx="4183380" cy="2948940"/>
            <a:chOff x="0" y="0"/>
            <a:chExt cx="5577840" cy="3931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778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3931920"/>
                  </a:lnTo>
                  <a:lnTo>
                    <a:pt x="0" y="393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43" t="0" r="-4044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5577840" cy="4017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0"/>
                </a:lnSpc>
              </a:pPr>
              <a:r>
                <a:rPr lang="en-US" sz="212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Desconexión comunicacional entre la escuela y el hogar, sumada a una alta carga administrativa para el docente.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46520" y="2811780"/>
            <a:ext cx="5143500" cy="6240780"/>
            <a:chOff x="0" y="0"/>
            <a:chExt cx="6858000" cy="8321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8321040"/>
            </a:xfrm>
            <a:custGeom>
              <a:avLst/>
              <a:gdLst/>
              <a:ahLst/>
              <a:cxnLst/>
              <a:rect r="r" b="b" t="t" l="l"/>
              <a:pathLst>
                <a:path h="8321040" w="6858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693408" y="0"/>
                  </a:lnTo>
                  <a:cubicBezTo>
                    <a:pt x="6784340" y="0"/>
                    <a:pt x="6858000" y="73660"/>
                    <a:pt x="6858000" y="164592"/>
                  </a:cubicBezTo>
                  <a:lnTo>
                    <a:pt x="6858000" y="8156448"/>
                  </a:lnTo>
                  <a:cubicBezTo>
                    <a:pt x="6858000" y="8247380"/>
                    <a:pt x="6784340" y="8321040"/>
                    <a:pt x="6693408" y="8321040"/>
                  </a:cubicBezTo>
                  <a:lnTo>
                    <a:pt x="164592" y="8321040"/>
                  </a:lnTo>
                  <a:cubicBezTo>
                    <a:pt x="73660" y="8321040"/>
                    <a:pt x="0" y="8247380"/>
                    <a:pt x="0" y="815644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26580" y="3360420"/>
            <a:ext cx="1234440" cy="1234440"/>
            <a:chOff x="0" y="0"/>
            <a:chExt cx="16459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204329" y="3638169"/>
            <a:ext cx="678942" cy="678942"/>
            <a:chOff x="0" y="0"/>
            <a:chExt cx="905256" cy="905256"/>
          </a:xfrm>
        </p:grpSpPr>
        <p:sp>
          <p:nvSpPr>
            <p:cNvPr name="Freeform 25" id="25" descr="assets/icons/solucion_FFFFFF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26580" y="4937760"/>
            <a:ext cx="4183380" cy="685800"/>
            <a:chOff x="0" y="0"/>
            <a:chExt cx="557784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77840" cy="914400"/>
            </a:xfrm>
            <a:custGeom>
              <a:avLst/>
              <a:gdLst/>
              <a:ahLst/>
              <a:cxnLst/>
              <a:rect r="r" b="b" t="t" l="l"/>
              <a:pathLst>
                <a:path h="9144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58" r="0" b="-688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577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La solución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26580" y="5692140"/>
            <a:ext cx="4183380" cy="2948940"/>
            <a:chOff x="0" y="0"/>
            <a:chExt cx="5577840" cy="3931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778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3931920"/>
                  </a:lnTo>
                  <a:lnTo>
                    <a:pt x="0" y="393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43" t="0" r="-4044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5577840" cy="4017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0"/>
                </a:lnSpc>
              </a:pPr>
              <a:r>
                <a:rPr lang="en-US" sz="212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Aplicación móvil que centraliza y transparenta la gestión académica de forma segura, para profesores y apoderados.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70080" y="2811780"/>
            <a:ext cx="5143500" cy="6240780"/>
            <a:chOff x="0" y="0"/>
            <a:chExt cx="6858000" cy="8321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8000" cy="8321040"/>
            </a:xfrm>
            <a:custGeom>
              <a:avLst/>
              <a:gdLst/>
              <a:ahLst/>
              <a:cxnLst/>
              <a:rect r="r" b="b" t="t" l="l"/>
              <a:pathLst>
                <a:path h="8321040" w="6858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693408" y="0"/>
                  </a:lnTo>
                  <a:cubicBezTo>
                    <a:pt x="6784340" y="0"/>
                    <a:pt x="6858000" y="73660"/>
                    <a:pt x="6858000" y="164592"/>
                  </a:cubicBezTo>
                  <a:lnTo>
                    <a:pt x="6858000" y="8156448"/>
                  </a:lnTo>
                  <a:cubicBezTo>
                    <a:pt x="6858000" y="8247380"/>
                    <a:pt x="6784340" y="8321040"/>
                    <a:pt x="6693408" y="8321040"/>
                  </a:cubicBezTo>
                  <a:lnTo>
                    <a:pt x="164592" y="8321040"/>
                  </a:lnTo>
                  <a:cubicBezTo>
                    <a:pt x="73660" y="8321040"/>
                    <a:pt x="0" y="8247380"/>
                    <a:pt x="0" y="815644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50140" y="3360420"/>
            <a:ext cx="1234440" cy="1234440"/>
            <a:chOff x="0" y="0"/>
            <a:chExt cx="164592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27889" y="3638169"/>
            <a:ext cx="678942" cy="678942"/>
            <a:chOff x="0" y="0"/>
            <a:chExt cx="905256" cy="905256"/>
          </a:xfrm>
        </p:grpSpPr>
        <p:sp>
          <p:nvSpPr>
            <p:cNvPr name="Freeform 37" id="37" descr="assets/icons/relevancia_FFFFFF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50140" y="4937760"/>
            <a:ext cx="4183380" cy="685800"/>
            <a:chOff x="0" y="0"/>
            <a:chExt cx="557784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577840" cy="914400"/>
            </a:xfrm>
            <a:custGeom>
              <a:avLst/>
              <a:gdLst/>
              <a:ahLst/>
              <a:cxnLst/>
              <a:rect r="r" b="b" t="t" l="l"/>
              <a:pathLst>
                <a:path h="9144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58" r="0" b="-6885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577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Relevancia en TI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550140" y="5692140"/>
            <a:ext cx="4183380" cy="2948940"/>
            <a:chOff x="0" y="0"/>
            <a:chExt cx="5577840" cy="3931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778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3931920"/>
                  </a:lnTo>
                  <a:lnTo>
                    <a:pt x="0" y="3931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43" t="0" r="-4044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5577840" cy="4017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0"/>
                </a:lnSpc>
              </a:pPr>
              <a:r>
                <a:rPr lang="en-US" sz="212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Automatización de procesos y trazabilidad de datos sensibles mediante registros de auditoría: una demanda crítica del mercado.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FUNDAMENTOS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0312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Perfil de egreso e intereses profesionales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503920" cy="6652260"/>
            <a:chOff x="0" y="0"/>
            <a:chExt cx="11338560" cy="8869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3856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1338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1173968" y="0"/>
                  </a:lnTo>
                  <a:cubicBezTo>
                    <a:pt x="11264900" y="0"/>
                    <a:pt x="11338560" y="73660"/>
                    <a:pt x="11338560" y="164592"/>
                  </a:cubicBezTo>
                  <a:lnTo>
                    <a:pt x="11338560" y="8705088"/>
                  </a:lnTo>
                  <a:cubicBezTo>
                    <a:pt x="11338560" y="8796020"/>
                    <a:pt x="11264900" y="8869680"/>
                    <a:pt x="11173968" y="8869680"/>
                  </a:cubicBezTo>
                  <a:lnTo>
                    <a:pt x="164592" y="8869680"/>
                  </a:lnTo>
                  <a:cubicBezTo>
                    <a:pt x="73660" y="8869680"/>
                    <a:pt x="0" y="8796020"/>
                    <a:pt x="0" y="8705088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3017520"/>
            <a:ext cx="1028700" cy="1028700"/>
            <a:chOff x="0" y="0"/>
            <a:chExt cx="13716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03058" y="3248978"/>
            <a:ext cx="565785" cy="565785"/>
            <a:chOff x="0" y="0"/>
            <a:chExt cx="754380" cy="754380"/>
          </a:xfrm>
        </p:grpSpPr>
        <p:sp>
          <p:nvSpPr>
            <p:cNvPr name="Freeform 13" id="13" descr="assets/icons/perfil_4E3B30.png"/>
            <p:cNvSpPr/>
            <p:nvPr/>
          </p:nvSpPr>
          <p:spPr>
            <a:xfrm flipH="false" flipV="false" rot="0">
              <a:off x="0" y="0"/>
              <a:ext cx="754380" cy="754380"/>
            </a:xfrm>
            <a:custGeom>
              <a:avLst/>
              <a:gdLst/>
              <a:ahLst/>
              <a:cxnLst/>
              <a:rect r="r" b="b" t="t" l="l"/>
              <a:pathLst>
                <a:path h="754380" w="754380">
                  <a:moveTo>
                    <a:pt x="0" y="0"/>
                  </a:moveTo>
                  <a:lnTo>
                    <a:pt x="754380" y="0"/>
                  </a:lnTo>
                  <a:lnTo>
                    <a:pt x="754380" y="754380"/>
                  </a:lnTo>
                  <a:lnTo>
                    <a:pt x="0" y="754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4620" y="3182112"/>
            <a:ext cx="6309360" cy="754380"/>
            <a:chOff x="0" y="0"/>
            <a:chExt cx="841248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65" r="0" b="-1129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841248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Competencias del perfil de egreso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4416552"/>
            <a:ext cx="164592" cy="164592"/>
            <a:chOff x="0" y="0"/>
            <a:chExt cx="219456" cy="219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83080" y="4210812"/>
            <a:ext cx="7269480" cy="1028700"/>
            <a:chOff x="0" y="0"/>
            <a:chExt cx="969264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926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969264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3"/>
                </a:lnSpc>
              </a:pPr>
              <a:r>
                <a:rPr lang="en-US" sz="2124">
                  <a:solidFill>
                    <a:srgbClr val="F4E3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Diseño de arquitecturas de software seguras y despliegue de apps multiplataforma.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1600" y="5760720"/>
            <a:ext cx="164592" cy="164592"/>
            <a:chOff x="0" y="0"/>
            <a:chExt cx="219456" cy="2194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83080" y="5554980"/>
            <a:ext cx="7269480" cy="1028700"/>
            <a:chOff x="0" y="0"/>
            <a:chExt cx="9692640" cy="137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926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969264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3"/>
                </a:lnSpc>
              </a:pPr>
              <a:r>
                <a:rPr lang="en-US" sz="2124">
                  <a:solidFill>
                    <a:srgbClr val="F4E3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Modelamiento de bases de datos relacionales con control de acceso (RBAC).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" y="7104888"/>
            <a:ext cx="164592" cy="164592"/>
            <a:chOff x="0" y="0"/>
            <a:chExt cx="219456" cy="2194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83080" y="6899148"/>
            <a:ext cx="7269480" cy="1028700"/>
            <a:chOff x="0" y="0"/>
            <a:chExt cx="969264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926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969264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3"/>
                </a:lnSpc>
              </a:pPr>
              <a:r>
                <a:rPr lang="en-US" sz="2124">
                  <a:solidFill>
                    <a:srgbClr val="F4E3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Orquestación de servicios cloud mediante APIs de Inteligencia Artificial.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38360" y="2537460"/>
            <a:ext cx="7749540" cy="3086100"/>
            <a:chOff x="0" y="0"/>
            <a:chExt cx="10332720" cy="4114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32720" cy="4114800"/>
            </a:xfrm>
            <a:custGeom>
              <a:avLst/>
              <a:gdLst/>
              <a:ahLst/>
              <a:cxnLst/>
              <a:rect r="r" b="b" t="t" l="l"/>
              <a:pathLst>
                <a:path h="4114800" w="1033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168128" y="0"/>
                  </a:lnTo>
                  <a:cubicBezTo>
                    <a:pt x="10259060" y="0"/>
                    <a:pt x="10332720" y="73660"/>
                    <a:pt x="10332720" y="164592"/>
                  </a:cubicBezTo>
                  <a:lnTo>
                    <a:pt x="10332720" y="3950208"/>
                  </a:lnTo>
                  <a:cubicBezTo>
                    <a:pt x="10332720" y="4041140"/>
                    <a:pt x="10259060" y="4114800"/>
                    <a:pt x="10168128" y="4114800"/>
                  </a:cubicBezTo>
                  <a:lnTo>
                    <a:pt x="164592" y="4114800"/>
                  </a:lnTo>
                  <a:cubicBezTo>
                    <a:pt x="73660" y="4114800"/>
                    <a:pt x="0" y="4041140"/>
                    <a:pt x="0" y="395020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149840" y="2948940"/>
            <a:ext cx="1028700" cy="1028700"/>
            <a:chOff x="0" y="0"/>
            <a:chExt cx="137160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381298" y="3180398"/>
            <a:ext cx="565785" cy="565785"/>
            <a:chOff x="0" y="0"/>
            <a:chExt cx="754380" cy="754380"/>
          </a:xfrm>
        </p:grpSpPr>
        <p:sp>
          <p:nvSpPr>
            <p:cNvPr name="Freeform 37" id="37" descr="assets/icons/personas_FFFFFF.png"/>
            <p:cNvSpPr/>
            <p:nvPr/>
          </p:nvSpPr>
          <p:spPr>
            <a:xfrm flipH="false" flipV="false" rot="0">
              <a:off x="0" y="0"/>
              <a:ext cx="754380" cy="754380"/>
            </a:xfrm>
            <a:custGeom>
              <a:avLst/>
              <a:gdLst/>
              <a:ahLst/>
              <a:cxnLst/>
              <a:rect r="r" b="b" t="t" l="l"/>
              <a:pathLst>
                <a:path h="754380" w="754380">
                  <a:moveTo>
                    <a:pt x="0" y="0"/>
                  </a:moveTo>
                  <a:lnTo>
                    <a:pt x="754380" y="0"/>
                  </a:lnTo>
                  <a:lnTo>
                    <a:pt x="754380" y="754380"/>
                  </a:lnTo>
                  <a:lnTo>
                    <a:pt x="0" y="754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452860" y="2948940"/>
            <a:ext cx="5486400" cy="548640"/>
            <a:chOff x="0" y="0"/>
            <a:chExt cx="73152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73152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Fernando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452860" y="3525012"/>
            <a:ext cx="5692140" cy="1851660"/>
            <a:chOff x="0" y="0"/>
            <a:chExt cx="7589520" cy="2468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895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8" r="0" b="-989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7589520" cy="2545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074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Inteligencia de Negocios y análisis de datos aplicados a backend y alertas tempranas.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738360" y="5966460"/>
            <a:ext cx="7749540" cy="3086100"/>
            <a:chOff x="0" y="0"/>
            <a:chExt cx="10332720" cy="4114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32720" cy="4114800"/>
            </a:xfrm>
            <a:custGeom>
              <a:avLst/>
              <a:gdLst/>
              <a:ahLst/>
              <a:cxnLst/>
              <a:rect r="r" b="b" t="t" l="l"/>
              <a:pathLst>
                <a:path h="4114800" w="1033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168128" y="0"/>
                  </a:lnTo>
                  <a:cubicBezTo>
                    <a:pt x="10259060" y="0"/>
                    <a:pt x="10332720" y="73660"/>
                    <a:pt x="10332720" y="164592"/>
                  </a:cubicBezTo>
                  <a:lnTo>
                    <a:pt x="10332720" y="3950208"/>
                  </a:lnTo>
                  <a:cubicBezTo>
                    <a:pt x="10332720" y="4041140"/>
                    <a:pt x="10259060" y="4114800"/>
                    <a:pt x="10168128" y="4114800"/>
                  </a:cubicBezTo>
                  <a:lnTo>
                    <a:pt x="164592" y="4114800"/>
                  </a:lnTo>
                  <a:cubicBezTo>
                    <a:pt x="73660" y="4114800"/>
                    <a:pt x="0" y="4041140"/>
                    <a:pt x="0" y="395020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149840" y="6377940"/>
            <a:ext cx="1028700" cy="1028700"/>
            <a:chOff x="0" y="0"/>
            <a:chExt cx="1371600" cy="1371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381298" y="6609397"/>
            <a:ext cx="565785" cy="565785"/>
            <a:chOff x="0" y="0"/>
            <a:chExt cx="754380" cy="754380"/>
          </a:xfrm>
        </p:grpSpPr>
        <p:sp>
          <p:nvSpPr>
            <p:cNvPr name="Freeform 49" id="49" descr="assets/icons/personas_FFFFFF.png"/>
            <p:cNvSpPr/>
            <p:nvPr/>
          </p:nvSpPr>
          <p:spPr>
            <a:xfrm flipH="false" flipV="false" rot="0">
              <a:off x="0" y="0"/>
              <a:ext cx="754380" cy="754380"/>
            </a:xfrm>
            <a:custGeom>
              <a:avLst/>
              <a:gdLst/>
              <a:ahLst/>
              <a:cxnLst/>
              <a:rect r="r" b="b" t="t" l="l"/>
              <a:pathLst>
                <a:path h="754380" w="754380">
                  <a:moveTo>
                    <a:pt x="0" y="0"/>
                  </a:moveTo>
                  <a:lnTo>
                    <a:pt x="754380" y="0"/>
                  </a:lnTo>
                  <a:lnTo>
                    <a:pt x="754380" y="754380"/>
                  </a:lnTo>
                  <a:lnTo>
                    <a:pt x="0" y="754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452860" y="6377940"/>
            <a:ext cx="5486400" cy="548640"/>
            <a:chOff x="0" y="0"/>
            <a:chExt cx="73152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73152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Catalina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452860" y="6954012"/>
            <a:ext cx="5692140" cy="1851660"/>
            <a:chOff x="0" y="0"/>
            <a:chExt cx="7589520" cy="2468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895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8" r="0" b="-989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7589520" cy="2545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1"/>
                </a:lnSpc>
              </a:pPr>
              <a:r>
                <a:rPr lang="en-US" sz="2074">
                  <a:solidFill>
                    <a:srgbClr val="4E3B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Arquitectura de software y liderazgo en frontend móvil / experiencia de usuario.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PROPÓSITO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Objetivos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16596360" cy="1988820"/>
            <a:chOff x="0" y="0"/>
            <a:chExt cx="22128480" cy="2651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79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487168"/>
                  </a:lnTo>
                  <a:cubicBezTo>
                    <a:pt x="22128479" y="2578100"/>
                    <a:pt x="22054820" y="2651760"/>
                    <a:pt x="21963887" y="2651760"/>
                  </a:cubicBezTo>
                  <a:lnTo>
                    <a:pt x="164592" y="2651760"/>
                  </a:lnTo>
                  <a:cubicBezTo>
                    <a:pt x="73660" y="2651760"/>
                    <a:pt x="0" y="2578100"/>
                    <a:pt x="0" y="2487168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770632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0769" y="3048381"/>
            <a:ext cx="678942" cy="678942"/>
            <a:chOff x="0" y="0"/>
            <a:chExt cx="905256" cy="905256"/>
          </a:xfrm>
        </p:grpSpPr>
        <p:sp>
          <p:nvSpPr>
            <p:cNvPr name="Freeform 13" id="13" descr="assets/icons/objetivo_4E3B30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811780" y="2633472"/>
            <a:ext cx="4114800" cy="548640"/>
            <a:chOff x="0" y="0"/>
            <a:chExt cx="54864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486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F0A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11780" y="3127248"/>
            <a:ext cx="14264640" cy="1165860"/>
            <a:chOff x="0" y="0"/>
            <a:chExt cx="1901952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195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05" r="0" b="-1884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01952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0"/>
                </a:lnSpc>
              </a:pPr>
              <a:r>
                <a:rPr lang="en-US" sz="20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 Producto Mínimo Viable de una app móvil que centralice la gestión académica y la comunicación bidireccional en colegios, garantizando la seguridad mediante control de accesos y facilitando la usabilidad mediante IA.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4869180"/>
            <a:ext cx="8023860" cy="2125980"/>
            <a:chOff x="0" y="0"/>
            <a:chExt cx="10698480" cy="2834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984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2670048"/>
                  </a:lnTo>
                  <a:cubicBezTo>
                    <a:pt x="10698480" y="2760980"/>
                    <a:pt x="10624820" y="2834640"/>
                    <a:pt x="1053388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008" y="5280660"/>
            <a:ext cx="891540" cy="891540"/>
            <a:chOff x="0" y="0"/>
            <a:chExt cx="118872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7008" y="5280660"/>
            <a:ext cx="891540" cy="891540"/>
            <a:chOff x="0" y="0"/>
            <a:chExt cx="1188720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188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331720" y="5143500"/>
            <a:ext cx="6172200" cy="1577340"/>
            <a:chOff x="0" y="0"/>
            <a:chExt cx="8229600" cy="2103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9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-262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8229600" cy="2179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6"/>
                </a:lnSpc>
              </a:pPr>
              <a:r>
                <a:rPr lang="en-US" sz="197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una arquitectura de backend segura con registro de auditoría para la trazabilidad de los datos.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95460" y="4869180"/>
            <a:ext cx="8023860" cy="2125980"/>
            <a:chOff x="0" y="0"/>
            <a:chExt cx="10698480" cy="2834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984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2670048"/>
                  </a:lnTo>
                  <a:cubicBezTo>
                    <a:pt x="10698480" y="2760980"/>
                    <a:pt x="10624820" y="2834640"/>
                    <a:pt x="1053388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79508" y="5280660"/>
            <a:ext cx="891540" cy="891540"/>
            <a:chOff x="0" y="0"/>
            <a:chExt cx="118872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779508" y="5280660"/>
            <a:ext cx="891540" cy="891540"/>
            <a:chOff x="0" y="0"/>
            <a:chExt cx="1188720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88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04220" y="5143500"/>
            <a:ext cx="6172200" cy="1577340"/>
            <a:chOff x="0" y="0"/>
            <a:chExt cx="8229600" cy="2103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29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-2624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8229600" cy="2179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6"/>
                </a:lnSpc>
              </a:pPr>
              <a:r>
                <a:rPr lang="en-US" sz="197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interfaces móviles segmentadas e intuitivas para el perfil de Profesor y Apoderado.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7269480"/>
            <a:ext cx="8023860" cy="2125980"/>
            <a:chOff x="0" y="0"/>
            <a:chExt cx="10698480" cy="2834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984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2670048"/>
                  </a:lnTo>
                  <a:cubicBezTo>
                    <a:pt x="10698480" y="2760980"/>
                    <a:pt x="10624820" y="2834640"/>
                    <a:pt x="1053388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008" y="7680960"/>
            <a:ext cx="891540" cy="891540"/>
            <a:chOff x="0" y="0"/>
            <a:chExt cx="1188720" cy="1188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7008" y="7680960"/>
            <a:ext cx="891540" cy="891540"/>
            <a:chOff x="0" y="0"/>
            <a:chExt cx="118872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188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331720" y="7543800"/>
            <a:ext cx="6172200" cy="1577340"/>
            <a:chOff x="0" y="0"/>
            <a:chExt cx="8229600" cy="2103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29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-2624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8229600" cy="2179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6"/>
                </a:lnSpc>
              </a:pPr>
              <a:r>
                <a:rPr lang="en-US" sz="197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un módulo de Inteligencia de Negocios para alertas tempranas de rendimiento académico.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95460" y="7269480"/>
            <a:ext cx="8023860" cy="2125980"/>
            <a:chOff x="0" y="0"/>
            <a:chExt cx="10698480" cy="2834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984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2670048"/>
                  </a:lnTo>
                  <a:cubicBezTo>
                    <a:pt x="10698480" y="2760980"/>
                    <a:pt x="10624820" y="2834640"/>
                    <a:pt x="1053388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779508" y="7680960"/>
            <a:ext cx="891540" cy="891540"/>
            <a:chOff x="0" y="0"/>
            <a:chExt cx="1188720" cy="1188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779508" y="7680960"/>
            <a:ext cx="891540" cy="891540"/>
            <a:chOff x="0" y="0"/>
            <a:chExt cx="1188720" cy="1188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188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904220" y="7543800"/>
            <a:ext cx="6172200" cy="1577340"/>
            <a:chOff x="0" y="0"/>
            <a:chExt cx="8229600" cy="2103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229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-2624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8229600" cy="2179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6"/>
                </a:lnSpc>
              </a:pPr>
              <a:r>
                <a:rPr lang="en-US" sz="197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Orquestar un Agente IA conversacional (arquitectura RAG) para resolver dudas frecuentes de forma accesible.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ALCANCE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Producto Mínimo Viable (PMV)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184880" cy="685800"/>
            <a:chOff x="0" y="0"/>
            <a:chExt cx="215798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846" r="0" b="-409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5A463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 PMV contempla el inicio de sesión segmentado por rol, con flujos independientes para Profesor y Apoderado.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948940"/>
            <a:ext cx="8023860" cy="6240780"/>
            <a:chOff x="0" y="0"/>
            <a:chExt cx="10698480" cy="8321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98480" cy="8321040"/>
            </a:xfrm>
            <a:custGeom>
              <a:avLst/>
              <a:gdLst/>
              <a:ahLst/>
              <a:cxnLst/>
              <a:rect r="r" b="b" t="t" l="l"/>
              <a:pathLst>
                <a:path h="832104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8156448"/>
                  </a:lnTo>
                  <a:cubicBezTo>
                    <a:pt x="10698480" y="8247380"/>
                    <a:pt x="10624820" y="8321040"/>
                    <a:pt x="10533888" y="8321040"/>
                  </a:cubicBezTo>
                  <a:lnTo>
                    <a:pt x="164592" y="8321040"/>
                  </a:lnTo>
                  <a:cubicBezTo>
                    <a:pt x="73660" y="8321040"/>
                    <a:pt x="0" y="8247380"/>
                    <a:pt x="0" y="815644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3429000"/>
            <a:ext cx="1097280" cy="1097280"/>
            <a:chOff x="0" y="0"/>
            <a:chExt cx="146304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49908" y="3675888"/>
            <a:ext cx="603504" cy="603504"/>
            <a:chOff x="0" y="0"/>
            <a:chExt cx="804672" cy="804672"/>
          </a:xfrm>
        </p:grpSpPr>
        <p:sp>
          <p:nvSpPr>
            <p:cNvPr name="Freeform 16" id="16" descr="assets/icons/profesor_FFFFFF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674620" y="3634740"/>
            <a:ext cx="5829300" cy="685800"/>
            <a:chOff x="0" y="0"/>
            <a:chExt cx="7772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7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772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Flujo del Profesor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8732" y="5060632"/>
            <a:ext cx="604647" cy="604647"/>
            <a:chOff x="0" y="0"/>
            <a:chExt cx="806196" cy="806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E3B3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5074920"/>
            <a:ext cx="576072" cy="576072"/>
            <a:chOff x="0" y="0"/>
            <a:chExt cx="768096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4E3B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25980" y="4965192"/>
            <a:ext cx="6172200" cy="1165860"/>
            <a:chOff x="0" y="0"/>
            <a:chExt cx="822960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2296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8"/>
                </a:lnSpc>
              </a:pPr>
              <a:r>
                <a:rPr lang="en-US" sz="2149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Inicio de sesión seguro y selección de curso.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88732" y="6459664"/>
            <a:ext cx="604647" cy="604647"/>
            <a:chOff x="0" y="0"/>
            <a:chExt cx="806196" cy="8061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E3B3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03020" y="6473952"/>
            <a:ext cx="576072" cy="576072"/>
            <a:chOff x="0" y="0"/>
            <a:chExt cx="768096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4E3B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125980" y="6364224"/>
            <a:ext cx="6172200" cy="1165860"/>
            <a:chOff x="0" y="0"/>
            <a:chExt cx="8229600" cy="1554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82296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8"/>
                </a:lnSpc>
              </a:pPr>
              <a:r>
                <a:rPr lang="en-US" sz="2149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ágil de asistencia diaria.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8732" y="7858696"/>
            <a:ext cx="604647" cy="604647"/>
            <a:chOff x="0" y="0"/>
            <a:chExt cx="806196" cy="8061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E3B3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03020" y="7872984"/>
            <a:ext cx="576072" cy="576072"/>
            <a:chOff x="0" y="0"/>
            <a:chExt cx="768096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4E3B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125980" y="7763256"/>
            <a:ext cx="6172200" cy="1165860"/>
            <a:chOff x="0" y="0"/>
            <a:chExt cx="8229600" cy="15544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2296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8"/>
                </a:lnSpc>
              </a:pPr>
              <a:r>
                <a:rPr lang="en-US" sz="2149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Ingreso de calificaciones y publicación de anuncio en el muro.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95460" y="2948940"/>
            <a:ext cx="8023860" cy="6240780"/>
            <a:chOff x="0" y="0"/>
            <a:chExt cx="10698480" cy="8321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98480" cy="8321040"/>
            </a:xfrm>
            <a:custGeom>
              <a:avLst/>
              <a:gdLst/>
              <a:ahLst/>
              <a:cxnLst/>
              <a:rect r="r" b="b" t="t" l="l"/>
              <a:pathLst>
                <a:path h="832104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8156448"/>
                  </a:lnTo>
                  <a:cubicBezTo>
                    <a:pt x="10698480" y="8247380"/>
                    <a:pt x="10624820" y="8321040"/>
                    <a:pt x="10533888" y="8321040"/>
                  </a:cubicBezTo>
                  <a:lnTo>
                    <a:pt x="164592" y="8321040"/>
                  </a:lnTo>
                  <a:cubicBezTo>
                    <a:pt x="73660" y="8321040"/>
                    <a:pt x="0" y="8247380"/>
                    <a:pt x="0" y="815644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75520" y="3429000"/>
            <a:ext cx="1097280" cy="1097280"/>
            <a:chOff x="0" y="0"/>
            <a:chExt cx="1463040" cy="1463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1752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122408" y="3675888"/>
            <a:ext cx="603504" cy="603504"/>
            <a:chOff x="0" y="0"/>
            <a:chExt cx="804672" cy="804672"/>
          </a:xfrm>
        </p:grpSpPr>
        <p:sp>
          <p:nvSpPr>
            <p:cNvPr name="Freeform 49" id="49" descr="assets/icons/apoderado_FFFFFF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247120" y="3634740"/>
            <a:ext cx="5829300" cy="685800"/>
            <a:chOff x="0" y="0"/>
            <a:chExt cx="7772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77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772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Flujo del Apoderado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61232" y="5060632"/>
            <a:ext cx="604647" cy="604647"/>
            <a:chOff x="0" y="0"/>
            <a:chExt cx="806196" cy="8061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C17529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875520" y="5074920"/>
            <a:ext cx="576072" cy="576072"/>
            <a:chOff x="0" y="0"/>
            <a:chExt cx="768096" cy="7680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698480" y="4965192"/>
            <a:ext cx="6172200" cy="1165860"/>
            <a:chOff x="0" y="0"/>
            <a:chExt cx="8229600" cy="15544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229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82296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8"/>
                </a:lnSpc>
              </a:pPr>
              <a:r>
                <a:rPr lang="en-US" sz="2149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Filtro de seguridad dinámico: solo ve datos de su pupilo.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861232" y="6459664"/>
            <a:ext cx="604647" cy="604647"/>
            <a:chOff x="0" y="0"/>
            <a:chExt cx="806196" cy="8061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C17529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875520" y="6473952"/>
            <a:ext cx="576072" cy="576072"/>
            <a:chOff x="0" y="0"/>
            <a:chExt cx="768096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698480" y="6364224"/>
            <a:ext cx="6172200" cy="1165860"/>
            <a:chOff x="0" y="0"/>
            <a:chExt cx="8229600" cy="15544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229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82296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8"/>
                </a:lnSpc>
              </a:pPr>
              <a:r>
                <a:rPr lang="en-US" sz="2149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interactivo de asistencia, promedio y recompensas.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861232" y="7858696"/>
            <a:ext cx="604647" cy="604647"/>
            <a:chOff x="0" y="0"/>
            <a:chExt cx="806196" cy="8061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C1752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875520" y="7872984"/>
            <a:ext cx="576072" cy="576072"/>
            <a:chOff x="0" y="0"/>
            <a:chExt cx="768096" cy="7680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698480" y="7763256"/>
            <a:ext cx="6172200" cy="1165860"/>
            <a:chOff x="0" y="0"/>
            <a:chExt cx="8229600" cy="15544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229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82296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8"/>
                </a:lnSpc>
              </a:pPr>
              <a:r>
                <a:rPr lang="en-US" sz="2149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Lectura del muro y confirmación de recepción del anuncio.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0A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INGENIERÍA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Arquitectura y stack tecnológico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88820"/>
            <a:ext cx="16184880" cy="685800"/>
            <a:chOff x="0" y="0"/>
            <a:chExt cx="215798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846" r="0" b="-409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F4E3C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Stack 100% open source, elegido para minimizar costos y maximizar portabilidad multiplataforma.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223260"/>
            <a:ext cx="8023860" cy="2606040"/>
            <a:chOff x="0" y="0"/>
            <a:chExt cx="10698480" cy="3474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9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3310128"/>
                  </a:lnTo>
                  <a:cubicBezTo>
                    <a:pt x="10698480" y="3401060"/>
                    <a:pt x="10624820" y="3474720"/>
                    <a:pt x="10533888" y="3474720"/>
                  </a:cubicBezTo>
                  <a:lnTo>
                    <a:pt x="164592" y="3474720"/>
                  </a:lnTo>
                  <a:cubicBezTo>
                    <a:pt x="73660" y="3474720"/>
                    <a:pt x="0" y="3401060"/>
                    <a:pt x="0" y="3310128"/>
                  </a:cubicBezTo>
                  <a:close/>
                </a:path>
              </a:pathLst>
            </a:custGeom>
            <a:solidFill>
              <a:srgbClr val="5C483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3607308"/>
            <a:ext cx="1165860" cy="1165860"/>
            <a:chOff x="0" y="0"/>
            <a:chExt cx="1554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96758" y="3869626"/>
            <a:ext cx="641223" cy="641223"/>
            <a:chOff x="0" y="0"/>
            <a:chExt cx="854964" cy="854964"/>
          </a:xfrm>
        </p:grpSpPr>
        <p:sp>
          <p:nvSpPr>
            <p:cNvPr name="Freeform 16" id="16" descr="assets/icons/codigo_4E3B30.png"/>
            <p:cNvSpPr/>
            <p:nvPr/>
          </p:nvSpPr>
          <p:spPr>
            <a:xfrm flipH="false" flipV="false" rot="0">
              <a:off x="0" y="0"/>
              <a:ext cx="854964" cy="854964"/>
            </a:xfrm>
            <a:custGeom>
              <a:avLst/>
              <a:gdLst/>
              <a:ahLst/>
              <a:cxnLst/>
              <a:rect r="r" b="b" t="t" l="l"/>
              <a:pathLst>
                <a:path h="854964" w="854964">
                  <a:moveTo>
                    <a:pt x="0" y="0"/>
                  </a:moveTo>
                  <a:lnTo>
                    <a:pt x="854964" y="0"/>
                  </a:lnTo>
                  <a:lnTo>
                    <a:pt x="854964" y="854964"/>
                  </a:lnTo>
                  <a:lnTo>
                    <a:pt x="0" y="854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674620" y="3566160"/>
            <a:ext cx="5829300" cy="548640"/>
            <a:chOff x="0" y="0"/>
            <a:chExt cx="77724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77724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Frontend móvil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674620" y="4155948"/>
            <a:ext cx="5829300" cy="1440180"/>
            <a:chOff x="0" y="0"/>
            <a:chExt cx="7772400" cy="1920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724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7772400" cy="198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3"/>
                </a:lnSpc>
              </a:pPr>
              <a:r>
                <a:rPr lang="en-US" sz="1999">
                  <a:solidFill>
                    <a:srgbClr val="F4E3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multiplataforma con interfaces segmentadas por rol (Profesor / Apoderado).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95460" y="3223260"/>
            <a:ext cx="8023860" cy="2606040"/>
            <a:chOff x="0" y="0"/>
            <a:chExt cx="10698480" cy="3474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9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3310128"/>
                  </a:lnTo>
                  <a:cubicBezTo>
                    <a:pt x="10698480" y="3401060"/>
                    <a:pt x="10624820" y="3474720"/>
                    <a:pt x="10533888" y="3474720"/>
                  </a:cubicBezTo>
                  <a:lnTo>
                    <a:pt x="164592" y="3474720"/>
                  </a:lnTo>
                  <a:cubicBezTo>
                    <a:pt x="73660" y="3474720"/>
                    <a:pt x="0" y="3401060"/>
                    <a:pt x="0" y="3310128"/>
                  </a:cubicBezTo>
                  <a:close/>
                </a:path>
              </a:pathLst>
            </a:custGeom>
            <a:solidFill>
              <a:srgbClr val="5C483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06940" y="3607308"/>
            <a:ext cx="1165860" cy="1165860"/>
            <a:chOff x="0" y="0"/>
            <a:chExt cx="155448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69258" y="3869626"/>
            <a:ext cx="641223" cy="641223"/>
            <a:chOff x="0" y="0"/>
            <a:chExt cx="854964" cy="854964"/>
          </a:xfrm>
        </p:grpSpPr>
        <p:sp>
          <p:nvSpPr>
            <p:cNvPr name="Freeform 28" id="28" descr="assets/icons/datos_4E3B30.png"/>
            <p:cNvSpPr/>
            <p:nvPr/>
          </p:nvSpPr>
          <p:spPr>
            <a:xfrm flipH="false" flipV="false" rot="0">
              <a:off x="0" y="0"/>
              <a:ext cx="854964" cy="854964"/>
            </a:xfrm>
            <a:custGeom>
              <a:avLst/>
              <a:gdLst/>
              <a:ahLst/>
              <a:cxnLst/>
              <a:rect r="r" b="b" t="t" l="l"/>
              <a:pathLst>
                <a:path h="854964" w="854964">
                  <a:moveTo>
                    <a:pt x="0" y="0"/>
                  </a:moveTo>
                  <a:lnTo>
                    <a:pt x="854964" y="0"/>
                  </a:lnTo>
                  <a:lnTo>
                    <a:pt x="854964" y="854964"/>
                  </a:lnTo>
                  <a:lnTo>
                    <a:pt x="0" y="854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247120" y="3566160"/>
            <a:ext cx="5829300" cy="548640"/>
            <a:chOff x="0" y="0"/>
            <a:chExt cx="77724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77724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Backend y datos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247120" y="4155948"/>
            <a:ext cx="5829300" cy="1440180"/>
            <a:chOff x="0" y="0"/>
            <a:chExt cx="7772400" cy="192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7724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7772400" cy="198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3"/>
                </a:lnSpc>
              </a:pPr>
              <a:r>
                <a:rPr lang="en-US" sz="1999">
                  <a:solidFill>
                    <a:srgbClr val="F4E3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Servicios REST y base de datos relacional con control de acceso por rol (RBAC).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6172200"/>
            <a:ext cx="8023860" cy="2606040"/>
            <a:chOff x="0" y="0"/>
            <a:chExt cx="10698480" cy="3474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9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3310128"/>
                  </a:lnTo>
                  <a:cubicBezTo>
                    <a:pt x="10698480" y="3401060"/>
                    <a:pt x="10624820" y="3474720"/>
                    <a:pt x="10533888" y="3474720"/>
                  </a:cubicBezTo>
                  <a:lnTo>
                    <a:pt x="164592" y="3474720"/>
                  </a:lnTo>
                  <a:cubicBezTo>
                    <a:pt x="73660" y="3474720"/>
                    <a:pt x="0" y="3401060"/>
                    <a:pt x="0" y="3310128"/>
                  </a:cubicBezTo>
                  <a:close/>
                </a:path>
              </a:pathLst>
            </a:custGeom>
            <a:solidFill>
              <a:srgbClr val="5C483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" y="6556248"/>
            <a:ext cx="1165860" cy="1165860"/>
            <a:chOff x="0" y="0"/>
            <a:chExt cx="155448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96758" y="6818566"/>
            <a:ext cx="641223" cy="641223"/>
            <a:chOff x="0" y="0"/>
            <a:chExt cx="854964" cy="854964"/>
          </a:xfrm>
        </p:grpSpPr>
        <p:sp>
          <p:nvSpPr>
            <p:cNvPr name="Freeform 40" id="40" descr="assets/icons/ciclo_4E3B30.png"/>
            <p:cNvSpPr/>
            <p:nvPr/>
          </p:nvSpPr>
          <p:spPr>
            <a:xfrm flipH="false" flipV="false" rot="0">
              <a:off x="0" y="0"/>
              <a:ext cx="854964" cy="854964"/>
            </a:xfrm>
            <a:custGeom>
              <a:avLst/>
              <a:gdLst/>
              <a:ahLst/>
              <a:cxnLst/>
              <a:rect r="r" b="b" t="t" l="l"/>
              <a:pathLst>
                <a:path h="854964" w="854964">
                  <a:moveTo>
                    <a:pt x="0" y="0"/>
                  </a:moveTo>
                  <a:lnTo>
                    <a:pt x="854964" y="0"/>
                  </a:lnTo>
                  <a:lnTo>
                    <a:pt x="854964" y="854964"/>
                  </a:lnTo>
                  <a:lnTo>
                    <a:pt x="0" y="854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674620" y="6515100"/>
            <a:ext cx="5829300" cy="548640"/>
            <a:chOff x="0" y="0"/>
            <a:chExt cx="77724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77724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IA y cloud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674620" y="7104888"/>
            <a:ext cx="5829300" cy="1440180"/>
            <a:chOff x="0" y="0"/>
            <a:chExt cx="7772400" cy="19202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7724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7772400" cy="198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3"/>
                </a:lnSpc>
              </a:pPr>
              <a:r>
                <a:rPr lang="en-US" sz="1999">
                  <a:solidFill>
                    <a:srgbClr val="F4E3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Agente conversacional (arquitectura RAG) y alertas tempranas vía servicios cloud.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95460" y="6172200"/>
            <a:ext cx="8023860" cy="2606040"/>
            <a:chOff x="0" y="0"/>
            <a:chExt cx="10698480" cy="3474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9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3310128"/>
                  </a:lnTo>
                  <a:cubicBezTo>
                    <a:pt x="10698480" y="3401060"/>
                    <a:pt x="10624820" y="3474720"/>
                    <a:pt x="10533888" y="3474720"/>
                  </a:cubicBezTo>
                  <a:lnTo>
                    <a:pt x="164592" y="3474720"/>
                  </a:lnTo>
                  <a:cubicBezTo>
                    <a:pt x="73660" y="3474720"/>
                    <a:pt x="0" y="3401060"/>
                    <a:pt x="0" y="3310128"/>
                  </a:cubicBezTo>
                  <a:close/>
                </a:path>
              </a:pathLst>
            </a:custGeom>
            <a:solidFill>
              <a:srgbClr val="5C483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806940" y="6556248"/>
            <a:ext cx="1165860" cy="1165860"/>
            <a:chOff x="0" y="0"/>
            <a:chExt cx="1554480" cy="15544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069258" y="6818566"/>
            <a:ext cx="641223" cy="641223"/>
            <a:chOff x="0" y="0"/>
            <a:chExt cx="854964" cy="854964"/>
          </a:xfrm>
        </p:grpSpPr>
        <p:sp>
          <p:nvSpPr>
            <p:cNvPr name="Freeform 52" id="52" descr="assets/icons/git_4E3B30.png"/>
            <p:cNvSpPr/>
            <p:nvPr/>
          </p:nvSpPr>
          <p:spPr>
            <a:xfrm flipH="false" flipV="false" rot="0">
              <a:off x="0" y="0"/>
              <a:ext cx="854964" cy="854964"/>
            </a:xfrm>
            <a:custGeom>
              <a:avLst/>
              <a:gdLst/>
              <a:ahLst/>
              <a:cxnLst/>
              <a:rect r="r" b="b" t="t" l="l"/>
              <a:pathLst>
                <a:path h="854964" w="854964">
                  <a:moveTo>
                    <a:pt x="0" y="0"/>
                  </a:moveTo>
                  <a:lnTo>
                    <a:pt x="854964" y="0"/>
                  </a:lnTo>
                  <a:lnTo>
                    <a:pt x="854964" y="854964"/>
                  </a:lnTo>
                  <a:lnTo>
                    <a:pt x="0" y="854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247120" y="6515100"/>
            <a:ext cx="5829300" cy="548640"/>
            <a:chOff x="0" y="0"/>
            <a:chExt cx="77724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77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9525"/>
              <a:ext cx="77724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Control de versiones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247120" y="7104888"/>
            <a:ext cx="5829300" cy="1440180"/>
            <a:chOff x="0" y="0"/>
            <a:chExt cx="7772400" cy="1920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7724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7772400" cy="198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3"/>
                </a:lnSpc>
              </a:pPr>
              <a:r>
                <a:rPr lang="en-US" sz="1999">
                  <a:solidFill>
                    <a:srgbClr val="F4E3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Repositorio Git activo, con historial de commits como evidencia de trabajo colaborativo.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C9B7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BACKLOG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Épicas del backlog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16596360" cy="2057400"/>
            <a:chOff x="0" y="0"/>
            <a:chExt cx="22128480" cy="274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79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578608"/>
                  </a:lnTo>
                  <a:cubicBezTo>
                    <a:pt x="22128479" y="2669540"/>
                    <a:pt x="22054820" y="2743200"/>
                    <a:pt x="21963887" y="2743200"/>
                  </a:cubicBezTo>
                  <a:lnTo>
                    <a:pt x="164592" y="2743200"/>
                  </a:lnTo>
                  <a:cubicBezTo>
                    <a:pt x="73660" y="2743200"/>
                    <a:pt x="0" y="2669540"/>
                    <a:pt x="0" y="257860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3086100"/>
            <a:ext cx="1097280" cy="1097280"/>
            <a:chOff x="0" y="0"/>
            <a:chExt cx="146304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3086100"/>
            <a:ext cx="1097280" cy="1097280"/>
            <a:chOff x="0" y="0"/>
            <a:chExt cx="146304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811780" y="2907792"/>
            <a:ext cx="3154680" cy="548640"/>
            <a:chOff x="0" y="0"/>
            <a:chExt cx="42062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06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4E3B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Épica 001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224760" y="2907792"/>
            <a:ext cx="1577340" cy="576072"/>
            <a:chOff x="0" y="0"/>
            <a:chExt cx="210312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03120" cy="768096"/>
            </a:xfrm>
            <a:custGeom>
              <a:avLst/>
              <a:gdLst/>
              <a:ahLst/>
              <a:cxnLst/>
              <a:rect r="r" b="b" t="t" l="l"/>
              <a:pathLst>
                <a:path h="768096" w="210312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1719072" y="0"/>
                  </a:lnTo>
                  <a:cubicBezTo>
                    <a:pt x="1931162" y="0"/>
                    <a:pt x="2103120" y="171958"/>
                    <a:pt x="2103120" y="384048"/>
                  </a:cubicBezTo>
                  <a:cubicBezTo>
                    <a:pt x="2103120" y="596138"/>
                    <a:pt x="1931162" y="768096"/>
                    <a:pt x="171907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224760" y="2907792"/>
            <a:ext cx="1577340" cy="576072"/>
            <a:chOff x="0" y="0"/>
            <a:chExt cx="2103120" cy="7680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3120" cy="768096"/>
            </a:xfrm>
            <a:custGeom>
              <a:avLst/>
              <a:gdLst/>
              <a:ahLst/>
              <a:cxnLst/>
              <a:rect r="r" b="b" t="t" l="l"/>
              <a:pathLst>
                <a:path h="76809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031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PF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811780" y="3360420"/>
            <a:ext cx="13578840" cy="548640"/>
            <a:chOff x="0" y="0"/>
            <a:chExt cx="181051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10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254" r="0" b="-43225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1810512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Gestión Académica, Evaluativa y Auditoría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11780" y="3909060"/>
            <a:ext cx="13578840" cy="685800"/>
            <a:chOff x="0" y="0"/>
            <a:chExt cx="1810512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105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803" r="0" b="-33580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81051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97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asistencia, calificaciones y trazabilidad completa mediante log de auditoría por rol.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4965192"/>
            <a:ext cx="16596360" cy="2057400"/>
            <a:chOff x="0" y="0"/>
            <a:chExt cx="22128480" cy="2743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79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578608"/>
                  </a:lnTo>
                  <a:cubicBezTo>
                    <a:pt x="22128479" y="2669540"/>
                    <a:pt x="22054820" y="2743200"/>
                    <a:pt x="21963887" y="2743200"/>
                  </a:cubicBezTo>
                  <a:lnTo>
                    <a:pt x="164592" y="2743200"/>
                  </a:lnTo>
                  <a:cubicBezTo>
                    <a:pt x="73660" y="2743200"/>
                    <a:pt x="0" y="2669540"/>
                    <a:pt x="0" y="257860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03020" y="5445252"/>
            <a:ext cx="1097280" cy="1097280"/>
            <a:chOff x="0" y="0"/>
            <a:chExt cx="14630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A5644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03020" y="5445252"/>
            <a:ext cx="1097280" cy="1097280"/>
            <a:chOff x="0" y="0"/>
            <a:chExt cx="146304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811780" y="5266944"/>
            <a:ext cx="3154680" cy="548640"/>
            <a:chOff x="0" y="0"/>
            <a:chExt cx="420624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206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564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Épica 002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224760" y="5266944"/>
            <a:ext cx="1577340" cy="576072"/>
            <a:chOff x="0" y="0"/>
            <a:chExt cx="2103120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03120" cy="768096"/>
            </a:xfrm>
            <a:custGeom>
              <a:avLst/>
              <a:gdLst/>
              <a:ahLst/>
              <a:cxnLst/>
              <a:rect r="r" b="b" t="t" l="l"/>
              <a:pathLst>
                <a:path h="768096" w="210312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1719072" y="0"/>
                  </a:lnTo>
                  <a:cubicBezTo>
                    <a:pt x="1931162" y="0"/>
                    <a:pt x="2103120" y="171958"/>
                    <a:pt x="2103120" y="384048"/>
                  </a:cubicBezTo>
                  <a:cubicBezTo>
                    <a:pt x="2103120" y="596138"/>
                    <a:pt x="1931162" y="768096"/>
                    <a:pt x="171907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A5644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224760" y="5266944"/>
            <a:ext cx="1577340" cy="576072"/>
            <a:chOff x="0" y="0"/>
            <a:chExt cx="2103120" cy="7680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3120" cy="768096"/>
            </a:xfrm>
            <a:custGeom>
              <a:avLst/>
              <a:gdLst/>
              <a:ahLst/>
              <a:cxnLst/>
              <a:rect r="r" b="b" t="t" l="l"/>
              <a:pathLst>
                <a:path h="76809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031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 PF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11780" y="5719572"/>
            <a:ext cx="13578840" cy="548640"/>
            <a:chOff x="0" y="0"/>
            <a:chExt cx="181051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10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254" r="0" b="-4322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1810512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Muro de Comunicación e Interacción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811780" y="6268212"/>
            <a:ext cx="13578840" cy="685800"/>
            <a:chOff x="0" y="0"/>
            <a:chExt cx="1810512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105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803" r="0" b="-33580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81051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97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Publicación de anuncios del profesor y confirmación de lectura por parte del apoderado.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7324344"/>
            <a:ext cx="16596360" cy="2057400"/>
            <a:chOff x="0" y="0"/>
            <a:chExt cx="22128480" cy="2743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128479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578608"/>
                  </a:lnTo>
                  <a:cubicBezTo>
                    <a:pt x="22128479" y="2669540"/>
                    <a:pt x="22054820" y="2743200"/>
                    <a:pt x="21963887" y="2743200"/>
                  </a:cubicBezTo>
                  <a:lnTo>
                    <a:pt x="164592" y="2743200"/>
                  </a:lnTo>
                  <a:cubicBezTo>
                    <a:pt x="73660" y="2743200"/>
                    <a:pt x="0" y="2669540"/>
                    <a:pt x="0" y="257860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03020" y="7804404"/>
            <a:ext cx="1097280" cy="1097280"/>
            <a:chOff x="0" y="0"/>
            <a:chExt cx="1463040" cy="1463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17529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03020" y="7804404"/>
            <a:ext cx="1097280" cy="1097280"/>
            <a:chOff x="0" y="0"/>
            <a:chExt cx="1463040" cy="1463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811780" y="7626096"/>
            <a:ext cx="3154680" cy="548640"/>
            <a:chOff x="0" y="0"/>
            <a:chExt cx="420624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06240" cy="731520"/>
            </a:xfrm>
            <a:custGeom>
              <a:avLst/>
              <a:gdLst/>
              <a:ahLst/>
              <a:cxnLst/>
              <a:rect r="r" b="b" t="t" l="l"/>
              <a:pathLst>
                <a:path h="7315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206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Épica 003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224760" y="7626096"/>
            <a:ext cx="1577340" cy="576072"/>
            <a:chOff x="0" y="0"/>
            <a:chExt cx="2103120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03120" cy="768096"/>
            </a:xfrm>
            <a:custGeom>
              <a:avLst/>
              <a:gdLst/>
              <a:ahLst/>
              <a:cxnLst/>
              <a:rect r="r" b="b" t="t" l="l"/>
              <a:pathLst>
                <a:path h="768096" w="210312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1719072" y="0"/>
                  </a:lnTo>
                  <a:cubicBezTo>
                    <a:pt x="1931162" y="0"/>
                    <a:pt x="2103120" y="171958"/>
                    <a:pt x="2103120" y="384048"/>
                  </a:cubicBezTo>
                  <a:cubicBezTo>
                    <a:pt x="2103120" y="596138"/>
                    <a:pt x="1931162" y="768096"/>
                    <a:pt x="171907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C1752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5224760" y="7626096"/>
            <a:ext cx="1577340" cy="576072"/>
            <a:chOff x="0" y="0"/>
            <a:chExt cx="2103120" cy="7680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03120" cy="768096"/>
            </a:xfrm>
            <a:custGeom>
              <a:avLst/>
              <a:gdLst/>
              <a:ahLst/>
              <a:cxnLst/>
              <a:rect r="r" b="b" t="t" l="l"/>
              <a:pathLst>
                <a:path h="768096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1" r="0" b="-335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1031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PF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811780" y="8078724"/>
            <a:ext cx="13578840" cy="548640"/>
            <a:chOff x="0" y="0"/>
            <a:chExt cx="181051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10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254" r="0" b="-43225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1810512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Accesibilidad IA y Monitoreo de Datos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811780" y="8627364"/>
            <a:ext cx="13578840" cy="685800"/>
            <a:chOff x="0" y="0"/>
            <a:chExt cx="1810512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8105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803" r="0" b="-33580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181051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974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Agente conversacional (RAG) y dashboard de alertas tempranas de rendimiento académico.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EJECUCIÓN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Metodología y plan de trabajo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16596360" cy="1234440"/>
            <a:chOff x="0" y="0"/>
            <a:chExt cx="2212848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7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1481328"/>
                  </a:lnTo>
                  <a:cubicBezTo>
                    <a:pt x="22128479" y="1572260"/>
                    <a:pt x="22054820" y="1645920"/>
                    <a:pt x="21963887" y="1645920"/>
                  </a:cubicBezTo>
                  <a:lnTo>
                    <a:pt x="164592" y="1645920"/>
                  </a:lnTo>
                  <a:cubicBezTo>
                    <a:pt x="73660" y="1645920"/>
                    <a:pt x="0" y="1572260"/>
                    <a:pt x="0" y="1481328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53746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0452" y="2702052"/>
            <a:ext cx="493776" cy="493776"/>
            <a:chOff x="0" y="0"/>
            <a:chExt cx="658368" cy="658368"/>
          </a:xfrm>
        </p:grpSpPr>
        <p:sp>
          <p:nvSpPr>
            <p:cNvPr name="Freeform 13" id="13" descr="assets/icons/ciclo_4E3B30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31720" y="2331720"/>
            <a:ext cx="14676120" cy="1234440"/>
            <a:chOff x="0" y="0"/>
            <a:chExt cx="19568160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68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655" r="0" b="-1816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956816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1950" b="true">
                  <a:solidFill>
                    <a:srgbClr val="F0A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Marco ágil Scrum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Sprints semanales con entregas de valor continuo y seguimiento en tableros Kanban.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46220" y="3977640"/>
            <a:ext cx="548640" cy="411480"/>
            <a:chOff x="0" y="0"/>
            <a:chExt cx="73152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501640" y="3977640"/>
            <a:ext cx="548640" cy="411480"/>
            <a:chOff x="0" y="0"/>
            <a:chExt cx="73152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57060" y="3977640"/>
            <a:ext cx="548640" cy="411480"/>
            <a:chOff x="0" y="0"/>
            <a:chExt cx="73152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412480" y="3977640"/>
            <a:ext cx="548640" cy="411480"/>
            <a:chOff x="0" y="0"/>
            <a:chExt cx="73152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67900" y="3977640"/>
            <a:ext cx="548640" cy="411480"/>
            <a:chOff x="0" y="0"/>
            <a:chExt cx="73152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323320" y="3977640"/>
            <a:ext cx="548640" cy="411480"/>
            <a:chOff x="0" y="0"/>
            <a:chExt cx="73152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78740" y="3977640"/>
            <a:ext cx="548640" cy="411480"/>
            <a:chOff x="0" y="0"/>
            <a:chExt cx="73152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234160" y="3977640"/>
            <a:ext cx="548640" cy="411480"/>
            <a:chOff x="0" y="0"/>
            <a:chExt cx="73152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689580" y="3977640"/>
            <a:ext cx="548640" cy="411480"/>
            <a:chOff x="0" y="0"/>
            <a:chExt cx="7315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145000" y="3977640"/>
            <a:ext cx="548640" cy="411480"/>
            <a:chOff x="0" y="0"/>
            <a:chExt cx="73152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320540" y="3730752"/>
            <a:ext cx="4114800" cy="384048"/>
            <a:chOff x="0" y="0"/>
            <a:chExt cx="5486400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486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9C8B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Semana →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4526280"/>
            <a:ext cx="3360420" cy="960120"/>
            <a:chOff x="0" y="0"/>
            <a:chExt cx="448056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48056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50" b="true">
                  <a:solidFill>
                    <a:srgbClr val="4E3B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Épica 001 · Gestión Académica, Evaluativa y Auditoría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320540" y="4663440"/>
            <a:ext cx="4366260" cy="658368"/>
            <a:chOff x="0" y="0"/>
            <a:chExt cx="5821680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21680" cy="877824"/>
            </a:xfrm>
            <a:custGeom>
              <a:avLst/>
              <a:gdLst/>
              <a:ahLst/>
              <a:cxnLst/>
              <a:rect r="r" b="b" t="t" l="l"/>
              <a:pathLst>
                <a:path h="877824" w="58216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711952" y="0"/>
                  </a:lnTo>
                  <a:cubicBezTo>
                    <a:pt x="5772531" y="0"/>
                    <a:pt x="5821680" y="49149"/>
                    <a:pt x="5821680" y="109728"/>
                  </a:cubicBezTo>
                  <a:lnTo>
                    <a:pt x="5821680" y="768096"/>
                  </a:lnTo>
                  <a:cubicBezTo>
                    <a:pt x="5821680" y="828675"/>
                    <a:pt x="5772531" y="877824"/>
                    <a:pt x="5711952" y="877824"/>
                  </a:cubicBezTo>
                  <a:lnTo>
                    <a:pt x="109728" y="877824"/>
                  </a:lnTo>
                  <a:cubicBezTo>
                    <a:pt x="49149" y="877824"/>
                    <a:pt x="0" y="828675"/>
                    <a:pt x="0" y="768096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320540" y="4663440"/>
            <a:ext cx="4366260" cy="658368"/>
            <a:chOff x="0" y="0"/>
            <a:chExt cx="5821680" cy="8778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21680" cy="877824"/>
            </a:xfrm>
            <a:custGeom>
              <a:avLst/>
              <a:gdLst/>
              <a:ahLst/>
              <a:cxnLst/>
              <a:rect r="r" b="b" t="t" l="l"/>
              <a:pathLst>
                <a:path h="877824" w="5821680">
                  <a:moveTo>
                    <a:pt x="0" y="0"/>
                  </a:moveTo>
                  <a:lnTo>
                    <a:pt x="5821680" y="0"/>
                  </a:lnTo>
                  <a:lnTo>
                    <a:pt x="58216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223" r="0" b="-7922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582168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PF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5966460"/>
            <a:ext cx="3360420" cy="960120"/>
            <a:chOff x="0" y="0"/>
            <a:chExt cx="448056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448056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50" b="true">
                  <a:solidFill>
                    <a:srgbClr val="4E3B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Épica 002 · Muro de Comunicación e Interacción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686800" y="6103620"/>
            <a:ext cx="2910840" cy="658368"/>
            <a:chOff x="0" y="0"/>
            <a:chExt cx="3881120" cy="8778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81120" cy="877824"/>
            </a:xfrm>
            <a:custGeom>
              <a:avLst/>
              <a:gdLst/>
              <a:ahLst/>
              <a:cxnLst/>
              <a:rect r="r" b="b" t="t" l="l"/>
              <a:pathLst>
                <a:path h="877824" w="3881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771392" y="0"/>
                  </a:lnTo>
                  <a:cubicBezTo>
                    <a:pt x="3831971" y="0"/>
                    <a:pt x="3881120" y="49149"/>
                    <a:pt x="3881120" y="109728"/>
                  </a:cubicBezTo>
                  <a:lnTo>
                    <a:pt x="3881120" y="768096"/>
                  </a:lnTo>
                  <a:cubicBezTo>
                    <a:pt x="3881120" y="828675"/>
                    <a:pt x="3831971" y="877824"/>
                    <a:pt x="3771392" y="877824"/>
                  </a:cubicBezTo>
                  <a:lnTo>
                    <a:pt x="109728" y="877824"/>
                  </a:lnTo>
                  <a:cubicBezTo>
                    <a:pt x="49149" y="877824"/>
                    <a:pt x="0" y="828675"/>
                    <a:pt x="0" y="768096"/>
                  </a:cubicBezTo>
                  <a:close/>
                </a:path>
              </a:pathLst>
            </a:custGeom>
            <a:solidFill>
              <a:srgbClr val="A5644E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686800" y="6103620"/>
            <a:ext cx="2910840" cy="658368"/>
            <a:chOff x="0" y="0"/>
            <a:chExt cx="3881120" cy="87782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81120" cy="877824"/>
            </a:xfrm>
            <a:custGeom>
              <a:avLst/>
              <a:gdLst/>
              <a:ahLst/>
              <a:cxnLst/>
              <a:rect r="r" b="b" t="t" l="l"/>
              <a:pathLst>
                <a:path h="877824" w="3881120">
                  <a:moveTo>
                    <a:pt x="0" y="0"/>
                  </a:moveTo>
                  <a:lnTo>
                    <a:pt x="3881120" y="0"/>
                  </a:lnTo>
                  <a:lnTo>
                    <a:pt x="3881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49" r="0" b="-3614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388112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 PF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7406640"/>
            <a:ext cx="3360420" cy="960120"/>
            <a:chOff x="0" y="0"/>
            <a:chExt cx="4480560" cy="12801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448056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50" b="true">
                  <a:solidFill>
                    <a:srgbClr val="4E3B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Épica 003 · Accesibilidad IA y Monitoreo de Datos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597640" y="7543800"/>
            <a:ext cx="5821680" cy="658368"/>
            <a:chOff x="0" y="0"/>
            <a:chExt cx="7762240" cy="87782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762240" cy="877824"/>
            </a:xfrm>
            <a:custGeom>
              <a:avLst/>
              <a:gdLst/>
              <a:ahLst/>
              <a:cxnLst/>
              <a:rect r="r" b="b" t="t" l="l"/>
              <a:pathLst>
                <a:path h="877824" w="7762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652512" y="0"/>
                  </a:lnTo>
                  <a:cubicBezTo>
                    <a:pt x="7713091" y="0"/>
                    <a:pt x="7762240" y="49149"/>
                    <a:pt x="7762240" y="109728"/>
                  </a:cubicBezTo>
                  <a:lnTo>
                    <a:pt x="7762240" y="768096"/>
                  </a:lnTo>
                  <a:cubicBezTo>
                    <a:pt x="7762240" y="828675"/>
                    <a:pt x="7713091" y="877824"/>
                    <a:pt x="7652512" y="877824"/>
                  </a:cubicBezTo>
                  <a:lnTo>
                    <a:pt x="109728" y="877824"/>
                  </a:lnTo>
                  <a:cubicBezTo>
                    <a:pt x="49149" y="877824"/>
                    <a:pt x="0" y="828675"/>
                    <a:pt x="0" y="768096"/>
                  </a:cubicBezTo>
                  <a:close/>
                </a:path>
              </a:pathLst>
            </a:custGeom>
            <a:solidFill>
              <a:srgbClr val="C17529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597640" y="7543800"/>
            <a:ext cx="5821680" cy="658368"/>
            <a:chOff x="0" y="0"/>
            <a:chExt cx="7762240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762240" cy="877824"/>
            </a:xfrm>
            <a:custGeom>
              <a:avLst/>
              <a:gdLst/>
              <a:ahLst/>
              <a:cxnLst/>
              <a:rect r="r" b="b" t="t" l="l"/>
              <a:pathLst>
                <a:path h="877824" w="7762240">
                  <a:moveTo>
                    <a:pt x="0" y="0"/>
                  </a:moveTo>
                  <a:lnTo>
                    <a:pt x="7762240" y="0"/>
                  </a:lnTo>
                  <a:lnTo>
                    <a:pt x="7762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98" r="0" b="-12229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776224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PF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2960" y="9121140"/>
            <a:ext cx="16596360" cy="822960"/>
            <a:chOff x="0" y="0"/>
            <a:chExt cx="221284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221284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725" i="true">
                  <a:solidFill>
                    <a:srgbClr val="5A463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Facilitadores: metodologías ágiles, control de versiones (Git) y comunicación constante del equipo.  ·  Obstaculizador: curva de aprendizaje en la integración de la API del LLM.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VIABILIDAD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Factibilidad y mitigación de riesgos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5143500" cy="6446520"/>
            <a:chOff x="0" y="0"/>
            <a:chExt cx="6858000" cy="859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8595361"/>
            </a:xfrm>
            <a:custGeom>
              <a:avLst/>
              <a:gdLst/>
              <a:ahLst/>
              <a:cxnLst/>
              <a:rect r="r" b="b" t="t" l="l"/>
              <a:pathLst>
                <a:path h="8595361" w="6858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693408" y="0"/>
                  </a:lnTo>
                  <a:cubicBezTo>
                    <a:pt x="6784340" y="0"/>
                    <a:pt x="6858000" y="73660"/>
                    <a:pt x="6858000" y="164592"/>
                  </a:cubicBezTo>
                  <a:lnTo>
                    <a:pt x="6858000" y="8430768"/>
                  </a:lnTo>
                  <a:cubicBezTo>
                    <a:pt x="6858000" y="8521700"/>
                    <a:pt x="6784340" y="8595361"/>
                    <a:pt x="6693408" y="8595361"/>
                  </a:cubicBezTo>
                  <a:lnTo>
                    <a:pt x="164592" y="8595361"/>
                  </a:lnTo>
                  <a:cubicBezTo>
                    <a:pt x="73660" y="8595360"/>
                    <a:pt x="0" y="8521700"/>
                    <a:pt x="0" y="843076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3223260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0769" y="3501009"/>
            <a:ext cx="678942" cy="678942"/>
            <a:chOff x="0" y="0"/>
            <a:chExt cx="905256" cy="905256"/>
          </a:xfrm>
        </p:grpSpPr>
        <p:sp>
          <p:nvSpPr>
            <p:cNvPr name="Freeform 13" id="13" descr="assets/icons/sitemap_FFFFFF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4800600"/>
            <a:ext cx="4183380" cy="685800"/>
            <a:chOff x="0" y="0"/>
            <a:chExt cx="557784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77840" cy="914400"/>
            </a:xfrm>
            <a:custGeom>
              <a:avLst/>
              <a:gdLst/>
              <a:ahLst/>
              <a:cxnLst/>
              <a:rect r="r" b="b" t="t" l="l"/>
              <a:pathLst>
                <a:path h="9144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58" r="0" b="-688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577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Alcance estratégico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5623560"/>
            <a:ext cx="4183380" cy="3086100"/>
            <a:chOff x="0" y="0"/>
            <a:chExt cx="5577840" cy="4114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778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114800"/>
                  </a:lnTo>
                  <a:lnTo>
                    <a:pt x="0" y="411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650" t="0" r="-4465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557784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8"/>
                </a:lnSpc>
              </a:pPr>
              <a:r>
                <a:rPr lang="en-US" sz="2049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Acotado a un PMV de registro y comunicación en 10 semanas. Se excluyen intencionalmente módulos de logística compleja, como agendamientos cruzados.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46520" y="2674620"/>
            <a:ext cx="5143500" cy="6446520"/>
            <a:chOff x="0" y="0"/>
            <a:chExt cx="6858000" cy="859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8595361"/>
            </a:xfrm>
            <a:custGeom>
              <a:avLst/>
              <a:gdLst/>
              <a:ahLst/>
              <a:cxnLst/>
              <a:rect r="r" b="b" t="t" l="l"/>
              <a:pathLst>
                <a:path h="8595361" w="6858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693408" y="0"/>
                  </a:lnTo>
                  <a:cubicBezTo>
                    <a:pt x="6784340" y="0"/>
                    <a:pt x="6858000" y="73660"/>
                    <a:pt x="6858000" y="164592"/>
                  </a:cubicBezTo>
                  <a:lnTo>
                    <a:pt x="6858000" y="8430768"/>
                  </a:lnTo>
                  <a:cubicBezTo>
                    <a:pt x="6858000" y="8521700"/>
                    <a:pt x="6784340" y="8595361"/>
                    <a:pt x="6693408" y="8595361"/>
                  </a:cubicBezTo>
                  <a:lnTo>
                    <a:pt x="164592" y="8595361"/>
                  </a:lnTo>
                  <a:cubicBezTo>
                    <a:pt x="73660" y="8595360"/>
                    <a:pt x="0" y="8521700"/>
                    <a:pt x="0" y="8430768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26580" y="3223260"/>
            <a:ext cx="1234440" cy="1234440"/>
            <a:chOff x="0" y="0"/>
            <a:chExt cx="16459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204329" y="3501009"/>
            <a:ext cx="678942" cy="678942"/>
            <a:chOff x="0" y="0"/>
            <a:chExt cx="905256" cy="905256"/>
          </a:xfrm>
        </p:grpSpPr>
        <p:sp>
          <p:nvSpPr>
            <p:cNvPr name="Freeform 25" id="25" descr="assets/icons/manos_FFFFFF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26580" y="4800600"/>
            <a:ext cx="4183380" cy="685800"/>
            <a:chOff x="0" y="0"/>
            <a:chExt cx="557784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77840" cy="914400"/>
            </a:xfrm>
            <a:custGeom>
              <a:avLst/>
              <a:gdLst/>
              <a:ahLst/>
              <a:cxnLst/>
              <a:rect r="r" b="b" t="t" l="l"/>
              <a:pathLst>
                <a:path h="9144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58" r="0" b="-688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577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Facilitadores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26580" y="5623560"/>
            <a:ext cx="4183380" cy="3086100"/>
            <a:chOff x="0" y="0"/>
            <a:chExt cx="5577840" cy="4114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778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114800"/>
                  </a:lnTo>
                  <a:lnTo>
                    <a:pt x="0" y="411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650" t="0" r="-4465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557784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8"/>
                </a:lnSpc>
              </a:pPr>
              <a:r>
                <a:rPr lang="en-US" sz="2049">
                  <a:solidFill>
                    <a:srgbClr val="F4E3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Uso de tecnologías open source (React Native / Flutter, Node.js / Python, PostgreSQL) y capas gratuitas de servicios cloud para el LLM.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70080" y="2674620"/>
            <a:ext cx="5143500" cy="6446520"/>
            <a:chOff x="0" y="0"/>
            <a:chExt cx="6858000" cy="859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8000" cy="8595361"/>
            </a:xfrm>
            <a:custGeom>
              <a:avLst/>
              <a:gdLst/>
              <a:ahLst/>
              <a:cxnLst/>
              <a:rect r="r" b="b" t="t" l="l"/>
              <a:pathLst>
                <a:path h="8595361" w="6858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693408" y="0"/>
                  </a:lnTo>
                  <a:cubicBezTo>
                    <a:pt x="6784340" y="0"/>
                    <a:pt x="6858000" y="73660"/>
                    <a:pt x="6858000" y="164592"/>
                  </a:cubicBezTo>
                  <a:lnTo>
                    <a:pt x="6858000" y="8430768"/>
                  </a:lnTo>
                  <a:cubicBezTo>
                    <a:pt x="6858000" y="8521700"/>
                    <a:pt x="6784340" y="8595361"/>
                    <a:pt x="6693408" y="8595361"/>
                  </a:cubicBezTo>
                  <a:lnTo>
                    <a:pt x="164592" y="8595361"/>
                  </a:lnTo>
                  <a:cubicBezTo>
                    <a:pt x="73660" y="8595360"/>
                    <a:pt x="0" y="8521700"/>
                    <a:pt x="0" y="8430768"/>
                  </a:cubicBezTo>
                  <a:close/>
                </a:path>
              </a:pathLst>
            </a:custGeom>
            <a:solidFill>
              <a:srgbClr val="FBEEC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50140" y="3223260"/>
            <a:ext cx="1234440" cy="1234440"/>
            <a:chOff x="0" y="0"/>
            <a:chExt cx="164592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4E3B3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27889" y="3501009"/>
            <a:ext cx="678942" cy="678942"/>
            <a:chOff x="0" y="0"/>
            <a:chExt cx="905256" cy="905256"/>
          </a:xfrm>
        </p:grpSpPr>
        <p:sp>
          <p:nvSpPr>
            <p:cNvPr name="Freeform 37" id="37" descr="assets/icons/alerta_FFFFFF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50140" y="4800600"/>
            <a:ext cx="4183380" cy="685800"/>
            <a:chOff x="0" y="0"/>
            <a:chExt cx="557784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577840" cy="914400"/>
            </a:xfrm>
            <a:custGeom>
              <a:avLst/>
              <a:gdLst/>
              <a:ahLst/>
              <a:cxnLst/>
              <a:rect r="r" b="b" t="t" l="l"/>
              <a:pathLst>
                <a:path h="9144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58" r="0" b="-6885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577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Riesgos y mitigación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550140" y="5623560"/>
            <a:ext cx="4183380" cy="3086100"/>
            <a:chOff x="0" y="0"/>
            <a:chExt cx="5577840" cy="4114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778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114800"/>
                  </a:lnTo>
                  <a:lnTo>
                    <a:pt x="0" y="411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650" t="0" r="-4465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557784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8"/>
                </a:lnSpc>
              </a:pPr>
              <a:r>
                <a:rPr lang="en-US" sz="2049">
                  <a:solidFill>
                    <a:srgbClr val="5A4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Ante caídas de servicios cloud o de la API de IA, se trabajará con repositorios en GitHub y bases de datos locales de respaldo para no detener el desarrollo.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C175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· TRAZABILIDAD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Evidencias de logro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16596360" cy="1988820"/>
            <a:chOff x="0" y="0"/>
            <a:chExt cx="22128480" cy="2651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79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487168"/>
                  </a:lnTo>
                  <a:cubicBezTo>
                    <a:pt x="22128479" y="2578100"/>
                    <a:pt x="22054820" y="2651760"/>
                    <a:pt x="21963887" y="2651760"/>
                  </a:cubicBezTo>
                  <a:lnTo>
                    <a:pt x="164592" y="2651760"/>
                  </a:lnTo>
                  <a:cubicBezTo>
                    <a:pt x="73660" y="2651760"/>
                    <a:pt x="0" y="2578100"/>
                    <a:pt x="0" y="24871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990088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0769" y="3267837"/>
            <a:ext cx="678942" cy="678942"/>
            <a:chOff x="0" y="0"/>
            <a:chExt cx="905256" cy="905256"/>
          </a:xfrm>
        </p:grpSpPr>
        <p:sp>
          <p:nvSpPr>
            <p:cNvPr name="Freeform 13" id="13" descr="assets/icons/sitemap_FFFFFF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948940" y="2852928"/>
            <a:ext cx="13578840" cy="548640"/>
            <a:chOff x="0" y="0"/>
            <a:chExt cx="181051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0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254" r="0" b="-4322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810512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Diagramas de arquitectura y BD (MER)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948940" y="3429000"/>
            <a:ext cx="13578840" cy="1028700"/>
            <a:chOff x="0" y="0"/>
            <a:chExt cx="1810512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105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202" r="0" b="-20720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81051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5"/>
                </a:lnSpc>
              </a:pPr>
              <a:r>
                <a:rPr lang="en-US" sz="18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Evidencian la correcta planificación técnica, la seguridad relacional y la estructura del log de auditoría.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4910328"/>
            <a:ext cx="16596360" cy="1988820"/>
            <a:chOff x="0" y="0"/>
            <a:chExt cx="22128480" cy="2651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8479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487168"/>
                  </a:lnTo>
                  <a:cubicBezTo>
                    <a:pt x="22128479" y="2578100"/>
                    <a:pt x="22054820" y="2651760"/>
                    <a:pt x="21963887" y="2651760"/>
                  </a:cubicBezTo>
                  <a:lnTo>
                    <a:pt x="164592" y="2651760"/>
                  </a:lnTo>
                  <a:cubicBezTo>
                    <a:pt x="73660" y="2651760"/>
                    <a:pt x="0" y="2578100"/>
                    <a:pt x="0" y="24871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5294376"/>
            <a:ext cx="1234440" cy="1234440"/>
            <a:chOff x="0" y="0"/>
            <a:chExt cx="16459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80769" y="5572125"/>
            <a:ext cx="678942" cy="678942"/>
            <a:chOff x="0" y="0"/>
            <a:chExt cx="905256" cy="905256"/>
          </a:xfrm>
        </p:grpSpPr>
        <p:sp>
          <p:nvSpPr>
            <p:cNvPr name="Freeform 25" id="25" descr="assets/icons/git_FFFFFF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948940" y="5157216"/>
            <a:ext cx="13578840" cy="548640"/>
            <a:chOff x="0" y="0"/>
            <a:chExt cx="181051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10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254" r="0" b="-4322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810512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Repositorio Git activo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948940" y="5733288"/>
            <a:ext cx="13578840" cy="1028700"/>
            <a:chOff x="0" y="0"/>
            <a:chExt cx="1810512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105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202" r="0" b="-20720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81051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5"/>
                </a:lnSpc>
              </a:pPr>
              <a:r>
                <a:rPr lang="en-US" sz="18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historial de commits justifica el trabajo colaborativo, equitativo y la aplicación real de la metodología ágil durante las 10 semanas.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7214616"/>
            <a:ext cx="16596360" cy="1988820"/>
            <a:chOff x="0" y="0"/>
            <a:chExt cx="22128480" cy="2651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79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487168"/>
                  </a:lnTo>
                  <a:cubicBezTo>
                    <a:pt x="22128479" y="2578100"/>
                    <a:pt x="22054820" y="2651760"/>
                    <a:pt x="21963887" y="2651760"/>
                  </a:cubicBezTo>
                  <a:lnTo>
                    <a:pt x="164592" y="2651760"/>
                  </a:lnTo>
                  <a:cubicBezTo>
                    <a:pt x="73660" y="2651760"/>
                    <a:pt x="0" y="2578100"/>
                    <a:pt x="0" y="24871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03020" y="7598664"/>
            <a:ext cx="1234440" cy="1234440"/>
            <a:chOff x="0" y="0"/>
            <a:chExt cx="164592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0A22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80769" y="7876413"/>
            <a:ext cx="678942" cy="678942"/>
            <a:chOff x="0" y="0"/>
            <a:chExt cx="905256" cy="905256"/>
          </a:xfrm>
        </p:grpSpPr>
        <p:sp>
          <p:nvSpPr>
            <p:cNvPr name="Freeform 37" id="37" descr="assets/icons/datos_FFFFFF.png"/>
            <p:cNvSpPr/>
            <p:nvPr/>
          </p:nvSpPr>
          <p:spPr>
            <a:xfrm flipH="false" flipV="false" rot="0">
              <a:off x="0" y="0"/>
              <a:ext cx="905256" cy="905256"/>
            </a:xfrm>
            <a:custGeom>
              <a:avLst/>
              <a:gdLst/>
              <a:ahLst/>
              <a:cxnLst/>
              <a:rect r="r" b="b" t="t" l="l"/>
              <a:pathLst>
                <a:path h="905256" w="905256">
                  <a:moveTo>
                    <a:pt x="0" y="0"/>
                  </a:moveTo>
                  <a:lnTo>
                    <a:pt x="905256" y="0"/>
                  </a:lnTo>
                  <a:lnTo>
                    <a:pt x="905256" y="905256"/>
                  </a:lnTo>
                  <a:lnTo>
                    <a:pt x="0" y="90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948940" y="7461504"/>
            <a:ext cx="13578840" cy="548640"/>
            <a:chOff x="0" y="0"/>
            <a:chExt cx="181051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10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254" r="0" b="-43225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1810512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4E3B30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Prototipo funcional poblado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948940" y="8037576"/>
            <a:ext cx="13578840" cy="1028700"/>
            <a:chOff x="0" y="0"/>
            <a:chExt cx="18105120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105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202" r="0" b="-20720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81051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5"/>
                </a:lnSpc>
              </a:pPr>
              <a:r>
                <a:rPr lang="en-US" sz="187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Demostración del software operando con datos sintéticos (Mock Data), cumpliendo el PMV propuesto sin comprometer privacidad real.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C8B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 descr="assets/books_pattern.jpeg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</a:blip>
              <a:stretch>
                <a:fillRect l="0" t="-38866" r="0" b="-388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04254" y="1371600"/>
            <a:ext cx="5074920" cy="5074920"/>
            <a:chOff x="0" y="0"/>
            <a:chExt cx="6766560" cy="6766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66560" cy="6766560"/>
            </a:xfrm>
            <a:custGeom>
              <a:avLst/>
              <a:gdLst/>
              <a:ahLst/>
              <a:cxnLst/>
              <a:rect r="r" b="b" t="t" l="l"/>
              <a:pathLst>
                <a:path h="6766560" w="6766560">
                  <a:moveTo>
                    <a:pt x="0" y="3383280"/>
                  </a:moveTo>
                  <a:cubicBezTo>
                    <a:pt x="0" y="1514729"/>
                    <a:pt x="1514729" y="0"/>
                    <a:pt x="3383280" y="0"/>
                  </a:cubicBezTo>
                  <a:cubicBezTo>
                    <a:pt x="5251831" y="0"/>
                    <a:pt x="6766560" y="1514729"/>
                    <a:pt x="6766560" y="3383280"/>
                  </a:cubicBezTo>
                  <a:cubicBezTo>
                    <a:pt x="6766560" y="5251831"/>
                    <a:pt x="5251831" y="6766560"/>
                    <a:pt x="3383280" y="6766560"/>
                  </a:cubicBezTo>
                  <a:cubicBezTo>
                    <a:pt x="1514729" y="6766560"/>
                    <a:pt x="0" y="5251831"/>
                    <a:pt x="0" y="3383280"/>
                  </a:cubicBezTo>
                  <a:close/>
                </a:path>
              </a:pathLst>
            </a:custGeom>
            <a:solidFill>
              <a:srgbClr val="5C483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01534" y="2057400"/>
            <a:ext cx="2880360" cy="4073652"/>
            <a:chOff x="0" y="0"/>
            <a:chExt cx="3840480" cy="5431536"/>
          </a:xfrm>
        </p:grpSpPr>
        <p:sp>
          <p:nvSpPr>
            <p:cNvPr name="Freeform 7" id="7" descr="assets/sala_abierta_logo_transparent.png"/>
            <p:cNvSpPr/>
            <p:nvPr/>
          </p:nvSpPr>
          <p:spPr>
            <a:xfrm flipH="false" flipV="false" rot="0">
              <a:off x="0" y="0"/>
              <a:ext cx="3840480" cy="5431536"/>
            </a:xfrm>
            <a:custGeom>
              <a:avLst/>
              <a:gdLst/>
              <a:ahLst/>
              <a:cxnLst/>
              <a:rect r="r" b="b" t="t" l="l"/>
              <a:pathLst>
                <a:path h="543153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5431536"/>
                  </a:lnTo>
                  <a:lnTo>
                    <a:pt x="0" y="5431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" r="0" b="-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6789420"/>
            <a:ext cx="18283428" cy="1234440"/>
            <a:chOff x="0" y="0"/>
            <a:chExt cx="24377904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1645920"/>
            </a:xfrm>
            <a:custGeom>
              <a:avLst/>
              <a:gdLst/>
              <a:ahLst/>
              <a:cxnLst/>
              <a:rect r="r" b="b" t="t" l="l"/>
              <a:pathLst>
                <a:path h="16459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8595" r="0" b="-2385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4377904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Bookmania Bold"/>
                  <a:ea typeface="Bookmania Bold"/>
                  <a:cs typeface="Bookmania Bold"/>
                  <a:sym typeface="Bookmania Bold"/>
                </a:rPr>
                <a:t>Gracias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7886700"/>
            <a:ext cx="18283428" cy="617220"/>
            <a:chOff x="0" y="0"/>
            <a:chExt cx="24377904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77904" cy="822960"/>
            </a:xfrm>
            <a:custGeom>
              <a:avLst/>
              <a:gdLst/>
              <a:ahLst/>
              <a:cxnLst/>
              <a:rect r="r" b="b" t="t" l="l"/>
              <a:pathLst>
                <a:path h="82296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7190" r="0" b="-52719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4377904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0A2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Fernando Pavez  ·  Catalina Aguilar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03920"/>
            <a:ext cx="18283428" cy="548640"/>
            <a:chOff x="0" y="0"/>
            <a:chExt cx="24377904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9338" r="0" b="-59933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37790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9B7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SalaAbierta — Propuesta para CAPSTONE, DUOC UC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DAHT1BNE6FQ</dc:identifier>
  <dcterms:modified xsi:type="dcterms:W3CDTF">2011-08-01T06:04:30Z</dcterms:modified>
  <cp:revision>1</cp:revision>
  <dc:title>SalaAbierta_Presentacion (3).pptx</dc:title>
</cp:coreProperties>
</file>