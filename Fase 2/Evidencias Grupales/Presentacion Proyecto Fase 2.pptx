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df87af3-4f44-1a0e-2527-fcf7cc968570}">
          <p14:sldIdLst>
            <p14:sldId id="256"/>
          </p14:sldIdLst>
        </p14:section>
        <p14:section name="Problema y producto" id="{10ee11cc-3224-8d08-a1e9-7ec535624377}">
          <p14:sldIdLst>
            <p14:sldId id="257"/>
            <p14:sldId id="258"/>
            <p14:sldId id="259"/>
          </p14:sldIdLst>
        </p14:section>
        <p14:section name="Plan y avance" id="{58e29676-c1b7-18e5-1c8d-168a294b47e0}">
          <p14:sldIdLst>
            <p14:sldId id="260"/>
            <p14:sldId id="261"/>
            <p14:sldId id="262"/>
          </p14:sldIdLst>
        </p14:section>
        <p14:section name="Perfil de egreso" id="{ac8bf52a-9637-0b04-19a0-130a092ecdea}">
          <p14:sldIdLst>
            <p14:sldId id="263"/>
          </p14:sldIdLst>
        </p14:section>
        <p14:section name="Desarrollo profesional" id="{270d8659-d70f-c12f-c5a8-02eeab083ff7}">
          <p14:sldIdLst>
            <p14:sldId id="264"/>
            <p14:sldId id="265"/>
          </p14:sldIdLst>
        </p14:section>
        <p14:section name="Demo y cierre" id="{360010b0-4adf-199e-878a-bef048c1c66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CATALINA (20 s). Buenos días. Somos Fernando Pavez y Catalina Aguilar, y presentamos el avance de SalaAbierta, nuestra app móvil para la gestión académica y la comunicación entre colegio y familia. En 7 minutos mostraremos el problema, el producto, cómo trabajamos, el avance del plan y cómo este proyecto se vincula con nuestro perfil de egreso. Al final verán un video de 3 minutos con la app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(40 s). En los colegios de educación básica, la asistencia, las notas y las anotaciones se registran en libros físicos, planillas y WhatsApp. Eso genera cuatro problemas: la información está dispersa, no hay trazabilidad de quién cambia un dato sensible, los comunicados no tienen acuse de recibo y los apoderados con menos experiencia digital quedan fuera. Ahí vemos la oportunidad: un solo sistema, con acceso según el rol y auditoría de cada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CATALINA (45 s). SalaAbierta es una sola app con tres roles. El profesor pasa la asistencia de todo el curso de una vez, registra notas y anotaciones, y publica anuncios en el muro. El apoderado ve solo la información de sus pupilos, nunca la de otros, y confirma que leyó cada anuncio. El administrador revisa la auditoría: quién cambió qué y cuándo. Funciona en Android, iOS y web con el mismo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(40 s). La arquitectura es cliente-servidor en tres capas: la app, una API REST en Node.js y Express, y PostgreSQL. La app nunca toca la base de datos. Cada solicitud pasa por tres filtros: que el token sea válido, que el rol tenga permiso y que el usuario tenga relación con ese curso o alumno; si no, responde 403. Además, cada cambio de datos sensibles queda auditado con su valor anterior y posterior. Trabajamos solo con datos sintéticos.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CATALINA (35 s). Trabajamos con Scrum en sprints de una semana, de la semana 5 a la 14. El backlog tiene 3 épicas y 10 historias de usuario, estimadas en 37 puntos. Cada avance queda respaldado en los artefactos ágiles: Product Vision, Product Backlog, Sprint Backlog, Definition of Done y el Documento de Diseño basado en UML. El 7 de octubre el docente validó el avance en la reunión de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(45 s). Este es nuestro plan de trabajo. La Épica 1, gestión académica y auditoría, está completa. La Épica 2, el muro de comunicación, está funcional y se adelantó respecto de lo planificado; solo falta que el profesor vea quiénes confirmaron cada anuncio. La Épica 3, el agente IA y las alertas, comienza en la semana 11, según lo planificado. En total llevamos 24 de 37 puntos, un 65 % del backlog, con 8 de 10 historias implementadas.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CATALINA (40 s). En el camino hicimos ajustes: dejamos fuera del PMV el agendamiento y las recompensas para asegurar la factibilidad, y agregamos una pantalla de auditoría. Además revisamos el código contra los documentos y detectamos 11 brechas que ya están en el backlog. Por eso, esta semana priorizamos calidad: transacciones, pruebas automatizadas e integración continua. Luego vienen el agente IA, en las semanas 11 y 12, las alertas tempranas en la 13 y el despliegue en la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(35 s). El proyecto moviliza cuatro competencias del perfil de egreso. Diseñamos e implementamos un modelo de datos relacional con integridad y auditoría, las competencias 3.1 y 3.2. Construimos la solución de forma sistematizada con Scrum y criterios de aceptación, la 4.1. Y la 4.2, porque integramos la app móvil, la API y la base de datos, y en la Épica 3 sumaremos el modelo de lenguaje.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(45 s). Mi interés está en el backend, los datos y la IA generativa. SalaAbierta me permitió diseñar seguridad real: no basta con esconder un botón en la app, cada solicitud se valida en el servidor y queda auditada. Lo que estoy fortaleciendo es mi autonomía al programar soluciones complejas. Me proyecto liderando equipos de datos o backend en proyectos con IA y analítica predictiva, que es justamente lo que haremos con las alertas tempranas y el agente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CATALINA (45 s). Mis intereses son el desarrollo móvil, la ciencia de datos y la dirección de proyectos. En SalaAbierta llevé el diseño a una app real que funciona en Android, iOS y web, y ordenamos el trabajo con Scrum y artefactos verificables. Estoy fortaleciendo la ejecución técnica para implementar por completo lo que diseño. En cinco años me veo como analista de datos o liderando equipos de desarrollo en proyectos con impacto social, como 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AMBOS. Dar paso al video de 3 minutos (insertar el video en esta diapositiva o reproducirlo aparte). Orden sugerido del video: login con error; profesor pasa asistencia, registra una nota y una anotación, y publica un anuncio; apoderado revisa notas y asistencia y confirma el anuncio; administrador muestra en la auditoría los cambios recién hechos. Cerrar: Gracias,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5D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839b4fc-ce85-5668-93e5-13c738bda02f/scratchpad/f1/un/ppt/media/image1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317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4612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5D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BD3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logo"/>
          <p:cNvSpPr/>
          <p:nvPr/>
        </p:nvSpPr>
        <p:spPr>
          <a:xfrm>
            <a:off x="731520" y="548640"/>
            <a:ext cx="1417320" cy="178308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pic>
        <p:nvPicPr>
          <p:cNvPr id="3" name="Logo SalaAbierta" descr="/tmp/claude-0/-home-claude/7839b4fc-ce85-5668-93e5-13c738bda02f/scratchpad/f1/un/ppt/media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630936"/>
            <a:ext cx="1143000" cy="161848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31520" y="2331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SalaAbierta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Evaluación Sumativa 2 · Avance del Proyecto APT (Fase 2)</a:t>
            </a:r>
            <a:endParaRPr lang="en-US" sz="2000" dirty="0"/>
          </a:p>
        </p:txBody>
      </p:sp>
      <p:sp>
        <p:nvSpPr>
          <p:cNvPr id="6" name="Ficha del equipo"/>
          <p:cNvSpPr/>
          <p:nvPr/>
        </p:nvSpPr>
        <p:spPr>
          <a:xfrm>
            <a:off x="731520" y="4160520"/>
            <a:ext cx="6583680" cy="1600200"/>
          </a:xfrm>
          <a:prstGeom prst="roundRect">
            <a:avLst>
              <a:gd name="adj" fmla="val 6857"/>
            </a:avLst>
          </a:prstGeom>
          <a:solidFill>
            <a:srgbClr val="4A2E2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43891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Fernando Pavez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BD3B3"/>
                </a:solidFill>
              </a:rPr>
              <a:t> · Líder de Proyecto / Backend y Datos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Catalina Aguilar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BD3B3"/>
                </a:solidFill>
              </a:rPr>
              <a:t> · Arquitecta de Software / Frontend Móvil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BD3B3"/>
                </a:solidFill>
              </a:rPr>
              <a:t>Capstone PTY4614 · Sección 001D · Docente: Felipe Krauss Benavente</a:t>
            </a:r>
            <a:endParaRPr lang="en-US" sz="1500" dirty="0"/>
          </a:p>
        </p:txBody>
      </p:sp>
      <p:pic>
        <p:nvPicPr>
          <p:cNvPr id="8" name="Logo Duoc UC" descr="/tmp/claude-0/-home-claude/7839b4fc-ce85-5668-93e5-13c738bda02f/scratchpad/f1/un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80760"/>
            <a:ext cx="146304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· EL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Información escolar fragmentada y sin trazabilidad</a:t>
            </a:r>
            <a:endParaRPr lang="en-US" sz="2800" dirty="0"/>
          </a:p>
        </p:txBody>
      </p:sp>
      <p:sp>
        <p:nvSpPr>
          <p:cNvPr id="4" name="Problema 1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E6CF"/>
          </a:solidFill>
          <a:ln/>
        </p:spPr>
      </p:sp>
      <p:sp>
        <p:nvSpPr>
          <p:cNvPr id="5" name="Icono problema 1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6" name="Icono problema 1 (símbolo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D3B2B"/>
                </a:solidFill>
              </a:rPr>
              <a:t>Registro disperso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Asistencia, notas y anotaciones en libros físicos, planillas y mensajería informal.</a:t>
            </a:r>
            <a:endParaRPr lang="en-US" sz="1400" dirty="0"/>
          </a:p>
        </p:txBody>
      </p:sp>
      <p:sp>
        <p:nvSpPr>
          <p:cNvPr id="9" name="Problema 2"/>
          <p:cNvSpPr/>
          <p:nvPr/>
        </p:nvSpPr>
        <p:spPr>
          <a:xfrm>
            <a:off x="3364992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E6CF"/>
          </a:solidFill>
          <a:ln/>
        </p:spPr>
      </p:sp>
      <p:sp>
        <p:nvSpPr>
          <p:cNvPr id="10" name="Icono problema 2"/>
          <p:cNvSpPr/>
          <p:nvPr/>
        </p:nvSpPr>
        <p:spPr>
          <a:xfrm>
            <a:off x="3639312" y="2011680"/>
            <a:ext cx="777240" cy="77724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1" name="Icono problema 2 (símbolo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850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9312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D3B2B"/>
                </a:solidFill>
              </a:rPr>
              <a:t>Sin trazabilidad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No queda registro de quién modificó un dato sensible ni cuándo.</a:t>
            </a:r>
            <a:endParaRPr lang="en-US" sz="1400" dirty="0"/>
          </a:p>
        </p:txBody>
      </p:sp>
      <p:sp>
        <p:nvSpPr>
          <p:cNvPr id="14" name="Problema 3"/>
          <p:cNvSpPr/>
          <p:nvPr/>
        </p:nvSpPr>
        <p:spPr>
          <a:xfrm>
            <a:off x="6181344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E6CF"/>
          </a:solidFill>
          <a:ln/>
        </p:spPr>
      </p:sp>
      <p:sp>
        <p:nvSpPr>
          <p:cNvPr id="15" name="Icono problema 3"/>
          <p:cNvSpPr/>
          <p:nvPr/>
        </p:nvSpPr>
        <p:spPr>
          <a:xfrm>
            <a:off x="6455664" y="2011680"/>
            <a:ext cx="777240" cy="77724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6" name="Icono problema 3 (símbolo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202" y="2198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55664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D3B2B"/>
                </a:solidFill>
              </a:rPr>
              <a:t>Comunicados sin acuse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55664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Los anuncios se pierden entre mensajes y no se sabe quién los recibió.</a:t>
            </a:r>
            <a:endParaRPr lang="en-US" sz="1400" dirty="0"/>
          </a:p>
        </p:txBody>
      </p:sp>
      <p:sp>
        <p:nvSpPr>
          <p:cNvPr id="19" name="Problema 4"/>
          <p:cNvSpPr/>
          <p:nvPr/>
        </p:nvSpPr>
        <p:spPr>
          <a:xfrm>
            <a:off x="8997696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6E6CF"/>
          </a:solidFill>
          <a:ln/>
        </p:spPr>
      </p:sp>
      <p:sp>
        <p:nvSpPr>
          <p:cNvPr id="20" name="Icono problema 4"/>
          <p:cNvSpPr/>
          <p:nvPr/>
        </p:nvSpPr>
        <p:spPr>
          <a:xfrm>
            <a:off x="9272016" y="2011680"/>
            <a:ext cx="777240" cy="777240"/>
          </a:xfrm>
          <a:prstGeom prst="ellipse">
            <a:avLst/>
          </a:prstGeom>
          <a:solidFill>
            <a:srgbClr val="5D3B2B"/>
          </a:solidFill>
          <a:ln/>
        </p:spPr>
      </p:sp>
      <p:pic>
        <p:nvPicPr>
          <p:cNvPr id="21" name="Icono problema 4 (símbolo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4" y="21982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2016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D3B2B"/>
                </a:solidFill>
              </a:rPr>
              <a:t>Brecha digital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72016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Apoderados con poca experiencia digital, como adultos mayores, quedan fuera.</a:t>
            </a:r>
            <a:endParaRPr lang="en-US" sz="1400" dirty="0"/>
          </a:p>
        </p:txBody>
      </p:sp>
      <p:sp>
        <p:nvSpPr>
          <p:cNvPr id="24" name="Oportunidad"/>
          <p:cNvSpPr/>
          <p:nvPr/>
        </p:nvSpPr>
        <p:spPr>
          <a:xfrm>
            <a:off x="548640" y="5303520"/>
            <a:ext cx="11109960" cy="822960"/>
          </a:xfrm>
          <a:prstGeom prst="roundRect">
            <a:avLst>
              <a:gd name="adj" fmla="val 13333"/>
            </a:avLst>
          </a:prstGeom>
          <a:solidFill>
            <a:srgbClr val="5D3B2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93F"/>
                </a:solidFill>
              </a:rPr>
              <a:t>Oportunidad: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centralizar el registro académico y la comunicación, con acceso por rol y auditoría de los datos sensibles.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· EL PRODUCTO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app, tres roles, cada uno ve solo lo suyo</a:t>
            </a:r>
            <a:endParaRPr lang="en-US" sz="2800" dirty="0"/>
          </a:p>
        </p:txBody>
      </p:sp>
      <p:sp>
        <p:nvSpPr>
          <p:cNvPr id="4" name="Icono Profesor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5" name="Icono Profesor (símbolo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81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D3B2B"/>
                </a:solidFill>
              </a:rPr>
              <a:t>Profesor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965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Pasa la asistencia de todo el curso en una operación, registra y edita notas y anotaciones, y publica en el muro del curso.</a:t>
            </a:r>
            <a:endParaRPr lang="en-US" sz="1400" dirty="0"/>
          </a:p>
        </p:txBody>
      </p:sp>
      <p:sp>
        <p:nvSpPr>
          <p:cNvPr id="8" name="Icono Apoderado"/>
          <p:cNvSpPr/>
          <p:nvPr/>
        </p:nvSpPr>
        <p:spPr>
          <a:xfrm>
            <a:off x="548640" y="3081528"/>
            <a:ext cx="731520" cy="7315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9" name="Icono Apoderado (símbolo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3257093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D3B2B"/>
                </a:solidFill>
              </a:rPr>
              <a:t>Apoderado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44728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Consulta notas, promedio, asistencia y anotaciones solo de sus pupilos; confirma la recepción de anuncios y comenta.</a:t>
            </a:r>
            <a:endParaRPr lang="en-US" sz="1400" dirty="0"/>
          </a:p>
        </p:txBody>
      </p:sp>
      <p:sp>
        <p:nvSpPr>
          <p:cNvPr id="12" name="Icono Administrador"/>
          <p:cNvSpPr/>
          <p:nvPr/>
        </p:nvSpPr>
        <p:spPr>
          <a:xfrm>
            <a:off x="548640" y="4562856"/>
            <a:ext cx="731520" cy="731520"/>
          </a:xfrm>
          <a:prstGeom prst="ellipse">
            <a:avLst/>
          </a:prstGeom>
          <a:solidFill>
            <a:srgbClr val="5D3B2B"/>
          </a:solidFill>
          <a:ln/>
        </p:spPr>
      </p:sp>
      <p:pic>
        <p:nvPicPr>
          <p:cNvPr id="13" name="Icono Administrador (símbolo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4738421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544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D3B2B"/>
                </a:solidFill>
              </a:rPr>
              <a:t>Administrador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92861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Consulta la auditoría: quién cambió qué dato, cuándo, y su valor antes y después.</a:t>
            </a:r>
            <a:endParaRPr lang="en-US" sz="1400" dirty="0"/>
          </a:p>
        </p:txBody>
      </p:sp>
      <p:pic>
        <p:nvPicPr>
          <p:cNvPr id="16" name="Captura Profesor: asistencia" descr="/tmp/claude-0/-home-claude/7839b4fc-ce85-5668-93e5-13c738bda02f/scratchpad/vid/p_5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29400" y="1600200"/>
            <a:ext cx="1600200" cy="35204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2940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A55"/>
                </a:solidFill>
              </a:rPr>
              <a:t>Profesor: asistencia</a:t>
            </a:r>
            <a:endParaRPr lang="en-US" sz="1000" dirty="0"/>
          </a:p>
        </p:txBody>
      </p:sp>
      <p:pic>
        <p:nvPicPr>
          <p:cNvPr id="18" name="Captura Apoderado: menú" descr="/tmp/claude-0/-home-claude/7839b4fc-ce85-5668-93e5-13c738bda02f/scratchpad/vid/w_52_crop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12480" y="1600200"/>
            <a:ext cx="1600200" cy="35204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1248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A55"/>
                </a:solidFill>
              </a:rPr>
              <a:t>Apoderado: menú</a:t>
            </a:r>
            <a:endParaRPr lang="en-US" sz="1000" dirty="0"/>
          </a:p>
        </p:txBody>
      </p:sp>
      <p:pic>
        <p:nvPicPr>
          <p:cNvPr id="20" name="Captura Apoderado: muro" descr="/tmp/claude-0/-home-claude/7839b4fc-ce85-5668-93e5-13c738bda02f/scratchpad/vid/w_33_crop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195560" y="1600200"/>
            <a:ext cx="1600200" cy="35204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195560" y="5212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A55"/>
                </a:solidFill>
              </a:rPr>
              <a:t>Apoderado: muro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6629400" y="5623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A55"/>
                </a:solidFill>
              </a:rPr>
              <a:t>Android, iOS y web desde un mismo código (Expo + React Native)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03 · CÓMO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Seguridad en el servidor, no solo en la pantalla</a:t>
            </a:r>
            <a:endParaRPr lang="en-US" sz="2800" dirty="0"/>
          </a:p>
        </p:txBody>
      </p:sp>
      <p:pic>
        <p:nvPicPr>
          <p:cNvPr id="4" name="Diagrama de arquitectura" descr="/home/claude/work/diag/arquitectu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035040" cy="4736592"/>
          </a:xfrm>
          <a:prstGeom prst="rect">
            <a:avLst/>
          </a:prstGeom>
        </p:spPr>
      </p:pic>
      <p:sp>
        <p:nvSpPr>
          <p:cNvPr id="5" name="Icono Autenticación"/>
          <p:cNvSpPr/>
          <p:nvPr/>
        </p:nvSpPr>
        <p:spPr>
          <a:xfrm>
            <a:off x="6949440" y="1508760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6" name="Icono Autenticación (símbolo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448" y="1666768"/>
            <a:ext cx="342351" cy="3423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0" y="1481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Autenticación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183794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Contraseñas con bcrypt y sesión JWT de 12 horas.</a:t>
            </a:r>
            <a:endParaRPr lang="en-US" sz="1400" dirty="0"/>
          </a:p>
        </p:txBody>
      </p:sp>
      <p:sp>
        <p:nvSpPr>
          <p:cNvPr id="9" name="Icono Tres filtros por solicitud"/>
          <p:cNvSpPr/>
          <p:nvPr/>
        </p:nvSpPr>
        <p:spPr>
          <a:xfrm>
            <a:off x="6949440" y="2679192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0" name="Icono Tres filtros por solicitud (símbolo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448" y="2837200"/>
            <a:ext cx="342351" cy="3423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Tres filtros por solicitud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772400" y="300837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Token válido, rol permitido y relación con el curso o alumno; si no, 403.</a:t>
            </a:r>
            <a:endParaRPr lang="en-US" sz="1400" dirty="0"/>
          </a:p>
        </p:txBody>
      </p:sp>
      <p:sp>
        <p:nvSpPr>
          <p:cNvPr id="13" name="Icono Auditoría"/>
          <p:cNvSpPr/>
          <p:nvPr/>
        </p:nvSpPr>
        <p:spPr>
          <a:xfrm>
            <a:off x="6949440" y="3849624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4" name="Icono Auditoría (símbolo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448" y="4007632"/>
            <a:ext cx="342351" cy="34235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77240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Auditoría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772400" y="41788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Cada cambio de asistencia, notas, anotaciones y anuncios guarda el antes y el después.</a:t>
            </a:r>
            <a:endParaRPr lang="en-US" sz="1400" dirty="0"/>
          </a:p>
        </p:txBody>
      </p:sp>
      <p:sp>
        <p:nvSpPr>
          <p:cNvPr id="17" name="Icono Datos sintéticos"/>
          <p:cNvSpPr/>
          <p:nvPr/>
        </p:nvSpPr>
        <p:spPr>
          <a:xfrm>
            <a:off x="6949440" y="5020056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8" name="Icono Datos sintéticos (símbolo)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448" y="5178064"/>
            <a:ext cx="342351" cy="34235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772400" y="49926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Datos sintéticos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772400" y="5349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Solo Mock Data, en línea con la Ley 19.628.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BD3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04 · METODOLOGÍA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Scrum con sprints semanales y entregables verificables</a:t>
            </a:r>
            <a:endParaRPr lang="en-US" sz="2800" dirty="0"/>
          </a:p>
        </p:txBody>
      </p:sp>
      <p:sp>
        <p:nvSpPr>
          <p:cNvPr id="4" name="Marco Scrum"/>
          <p:cNvSpPr/>
          <p:nvPr/>
        </p:nvSpPr>
        <p:spPr>
          <a:xfrm>
            <a:off x="548640" y="1600200"/>
            <a:ext cx="4846320" cy="4526280"/>
          </a:xfrm>
          <a:prstGeom prst="roundRect">
            <a:avLst>
              <a:gd name="adj" fmla="val 2424"/>
            </a:avLst>
          </a:prstGeom>
          <a:solidFill>
            <a:srgbClr val="5D3B2B"/>
          </a:solidFill>
          <a:ln/>
        </p:spPr>
      </p:sp>
      <p:sp>
        <p:nvSpPr>
          <p:cNvPr id="5" name="Icono Scrum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6" name="Icono Scrum (símbolo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0610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Scrum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10 sprints de 1 semana (S5 a S14)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3 épicas y 10 historias de usuario: 37 PF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Ambos integrantes trabajan en todas las historias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Control de avance con el docente (07-10-2026)</a:t>
            </a:r>
            <a:endParaRPr lang="en-US" sz="1500" dirty="0"/>
          </a:p>
        </p:txBody>
      </p:sp>
      <p:sp>
        <p:nvSpPr>
          <p:cNvPr id="9" name="Documento 01"/>
          <p:cNvSpPr/>
          <p:nvPr/>
        </p:nvSpPr>
        <p:spPr>
          <a:xfrm>
            <a:off x="5760720" y="1600200"/>
            <a:ext cx="5897880" cy="777240"/>
          </a:xfrm>
          <a:prstGeom prst="roundRect">
            <a:avLst>
              <a:gd name="adj" fmla="val 14118"/>
            </a:avLst>
          </a:prstGeom>
          <a:solidFill>
            <a:srgbClr val="F6E6C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0" y="16002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93F"/>
                </a:solidFill>
              </a:rPr>
              <a:t>01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3B2B"/>
                </a:solidFill>
              </a:rPr>
              <a:t>Product Vision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B12"/>
                </a:solidFill>
              </a:rPr>
              <a:t>Problema, usuarios y propuesta de valor</a:t>
            </a:r>
            <a:endParaRPr lang="en-US" sz="1200" dirty="0"/>
          </a:p>
        </p:txBody>
      </p:sp>
      <p:sp>
        <p:nvSpPr>
          <p:cNvPr id="13" name="Documento 02"/>
          <p:cNvSpPr/>
          <p:nvPr/>
        </p:nvSpPr>
        <p:spPr>
          <a:xfrm>
            <a:off x="5760720" y="2514600"/>
            <a:ext cx="5897880" cy="777240"/>
          </a:xfrm>
          <a:prstGeom prst="roundRect">
            <a:avLst>
              <a:gd name="adj" fmla="val 14118"/>
            </a:avLst>
          </a:prstGeom>
          <a:solidFill>
            <a:srgbClr val="F6E6C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0" y="25146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93F"/>
                </a:solidFill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3B2B"/>
                </a:solidFill>
              </a:rPr>
              <a:t>Product Backlog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B12"/>
                </a:solidFill>
              </a:rPr>
              <a:t>10 historias priorizadas, 37 PF</a:t>
            </a:r>
            <a:endParaRPr lang="en-US" sz="1200" dirty="0"/>
          </a:p>
        </p:txBody>
      </p:sp>
      <p:sp>
        <p:nvSpPr>
          <p:cNvPr id="17" name="Documento 03"/>
          <p:cNvSpPr/>
          <p:nvPr/>
        </p:nvSpPr>
        <p:spPr>
          <a:xfrm>
            <a:off x="5760720" y="3429000"/>
            <a:ext cx="5897880" cy="777240"/>
          </a:xfrm>
          <a:prstGeom prst="roundRect">
            <a:avLst>
              <a:gd name="adj" fmla="val 14118"/>
            </a:avLst>
          </a:prstGeom>
          <a:solidFill>
            <a:srgbClr val="F6E6C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0" y="34290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93F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3B2B"/>
                </a:solidFill>
              </a:rPr>
              <a:t>Sprint Backlog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B12"/>
                </a:solidFill>
              </a:rPr>
              <a:t>Tareas y estado de cada sprint</a:t>
            </a:r>
            <a:endParaRPr lang="en-US" sz="1200" dirty="0"/>
          </a:p>
        </p:txBody>
      </p:sp>
      <p:sp>
        <p:nvSpPr>
          <p:cNvPr id="21" name="Documento 04"/>
          <p:cNvSpPr/>
          <p:nvPr/>
        </p:nvSpPr>
        <p:spPr>
          <a:xfrm>
            <a:off x="5760720" y="4343400"/>
            <a:ext cx="5897880" cy="777240"/>
          </a:xfrm>
          <a:prstGeom prst="roundRect">
            <a:avLst>
              <a:gd name="adj" fmla="val 14118"/>
            </a:avLst>
          </a:prstGeom>
          <a:solidFill>
            <a:srgbClr val="F6E6C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0" y="43434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93F"/>
                </a:solidFill>
              </a:rPr>
              <a:t>04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72084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3B2B"/>
                </a:solidFill>
              </a:rPr>
              <a:t>Definition of Done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B12"/>
                </a:solidFill>
              </a:rPr>
              <a:t>Criterios de negocio y técnicos</a:t>
            </a:r>
            <a:endParaRPr lang="en-US" sz="1200" dirty="0"/>
          </a:p>
        </p:txBody>
      </p:sp>
      <p:sp>
        <p:nvSpPr>
          <p:cNvPr id="25" name="Documento 05"/>
          <p:cNvSpPr/>
          <p:nvPr/>
        </p:nvSpPr>
        <p:spPr>
          <a:xfrm>
            <a:off x="5760720" y="5257800"/>
            <a:ext cx="5897880" cy="777240"/>
          </a:xfrm>
          <a:prstGeom prst="roundRect">
            <a:avLst>
              <a:gd name="adj" fmla="val 14118"/>
            </a:avLst>
          </a:prstGeom>
          <a:solidFill>
            <a:srgbClr val="F6E6C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0" y="52578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793F"/>
                </a:solidFill>
              </a:rPr>
              <a:t>05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72084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D3B2B"/>
                </a:solidFill>
              </a:rPr>
              <a:t>Diseño basado en UML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720840" y="5669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1B12"/>
                </a:solidFill>
              </a:rPr>
              <a:t>Casos de uso, E-R, clases, secuencia, componentes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05 · PLAN DE TRABAJO Y AVANCE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Épicas 1 y 2 funcionando: 65 % del backlog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606040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11296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16552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321808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27064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S9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37576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S11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942832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848088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S13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753344" y="15087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55"/>
                </a:solidFill>
              </a:rPr>
              <a:t>S14</a:t>
            </a:r>
            <a:endParaRPr lang="en-US" sz="1100" dirty="0"/>
          </a:p>
        </p:txBody>
      </p:sp>
      <p:sp>
        <p:nvSpPr>
          <p:cNvPr id="14" name="Marca semana actual"/>
          <p:cNvSpPr/>
          <p:nvPr/>
        </p:nvSpPr>
        <p:spPr>
          <a:xfrm>
            <a:off x="6679692" y="1783080"/>
            <a:ext cx="0" cy="2423160"/>
          </a:xfrm>
          <a:prstGeom prst="line">
            <a:avLst/>
          </a:prstGeom>
          <a:noFill/>
          <a:ln w="25400">
            <a:solidFill>
              <a:srgbClr val="3E7D3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222492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D3A"/>
                </a:solidFill>
              </a:rPr>
              <a:t>Hoy (S9)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874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B2B"/>
                </a:solidFill>
              </a:rPr>
              <a:t>Épica 1 · Gestión académica y auditoría</a:t>
            </a:r>
            <a:endParaRPr lang="en-US" sz="1200" dirty="0"/>
          </a:p>
        </p:txBody>
      </p:sp>
      <p:sp>
        <p:nvSpPr>
          <p:cNvPr id="17" name="Épica 1 · Gestión académica y auditoría"/>
          <p:cNvSpPr/>
          <p:nvPr/>
        </p:nvSpPr>
        <p:spPr>
          <a:xfrm>
            <a:off x="2633472" y="19202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5D3B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43200" y="192024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HU001–HU005 · 16 PF · Completada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651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B2B"/>
                </a:solidFill>
              </a:rPr>
              <a:t>Épica 2 · Muro de comunicación</a:t>
            </a:r>
            <a:endParaRPr lang="en-US" sz="1200" dirty="0"/>
          </a:p>
        </p:txBody>
      </p:sp>
      <p:sp>
        <p:nvSpPr>
          <p:cNvPr id="20" name="Épica 2 · Muro de comunicación"/>
          <p:cNvSpPr/>
          <p:nvPr/>
        </p:nvSpPr>
        <p:spPr>
          <a:xfrm>
            <a:off x="5349240" y="2697480"/>
            <a:ext cx="2660904" cy="502920"/>
          </a:xfrm>
          <a:prstGeom prst="roundRect">
            <a:avLst>
              <a:gd name="adj" fmla="val 14545"/>
            </a:avLst>
          </a:prstGeom>
          <a:solidFill>
            <a:srgbClr val="C979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58968" y="269748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HU006–HU008 · 8 PF · Funcional (HU008 parcial)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29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B2B"/>
                </a:solidFill>
              </a:rPr>
              <a:t>Épica 3 · IA y alertas tempranas</a:t>
            </a:r>
            <a:endParaRPr lang="en-US" sz="1200" dirty="0"/>
          </a:p>
        </p:txBody>
      </p:sp>
      <p:sp>
        <p:nvSpPr>
          <p:cNvPr id="23" name="Épica 3 · IA y alertas tempranas"/>
          <p:cNvSpPr/>
          <p:nvPr/>
        </p:nvSpPr>
        <p:spPr>
          <a:xfrm>
            <a:off x="8065008" y="347472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6E6CF"/>
          </a:solidFill>
          <a:ln w="12700">
            <a:solidFill>
              <a:srgbClr val="C9793F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174736" y="347472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3B2B"/>
                </a:solidFill>
              </a:rPr>
              <a:t>HU009–HU010 · 13 PF · No iniciada (en plazo)</a:t>
            </a:r>
            <a:endParaRPr lang="en-US" sz="1100" dirty="0"/>
          </a:p>
        </p:txBody>
      </p:sp>
      <p:sp>
        <p:nvSpPr>
          <p:cNvPr id="25" name="Indicador 1"/>
          <p:cNvSpPr/>
          <p:nvPr/>
        </p:nvSpPr>
        <p:spPr>
          <a:xfrm>
            <a:off x="548640" y="46634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5D3B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93F"/>
                </a:solidFill>
              </a:rPr>
              <a:t>24 / 37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puntos de esfuerzo con funcionalidad implementada</a:t>
            </a:r>
            <a:endParaRPr lang="en-US" sz="1300" dirty="0"/>
          </a:p>
        </p:txBody>
      </p:sp>
      <p:sp>
        <p:nvSpPr>
          <p:cNvPr id="28" name="Indicador 2"/>
          <p:cNvSpPr/>
          <p:nvPr/>
        </p:nvSpPr>
        <p:spPr>
          <a:xfrm>
            <a:off x="4297680" y="46634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6E6C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D3B2B"/>
                </a:solidFill>
              </a:rPr>
              <a:t>8 / 10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2"/>
                </a:solidFill>
              </a:rPr>
              <a:t>historias de usuario implementadas (6 completas y 2 parciales)</a:t>
            </a:r>
            <a:endParaRPr lang="en-US" sz="1300" dirty="0"/>
          </a:p>
        </p:txBody>
      </p:sp>
      <p:sp>
        <p:nvSpPr>
          <p:cNvPr id="31" name="Indicador 3"/>
          <p:cNvSpPr/>
          <p:nvPr/>
        </p:nvSpPr>
        <p:spPr>
          <a:xfrm>
            <a:off x="8046720" y="46634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6E6C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2104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D3B2B"/>
                </a:solidFill>
              </a:rPr>
              <a:t>10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B12"/>
                </a:solidFill>
              </a:rPr>
              <a:t>pantallas implementadas, segmentadas por rol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06 · AJUSTES Y PRÓXIMOS PASOS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Ajustamos el alcance y priorizamos la calidad</a:t>
            </a:r>
            <a:endParaRPr lang="en-US" sz="2800" dirty="0"/>
          </a:p>
        </p:txBody>
      </p:sp>
      <p:sp>
        <p:nvSpPr>
          <p:cNvPr id="4" name="Ajustes realizados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6E6CF"/>
          </a:solidFill>
          <a:ln/>
        </p:spPr>
      </p:sp>
      <p:sp>
        <p:nvSpPr>
          <p:cNvPr id="5" name="Icono ajustes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5D3B2B"/>
          </a:solidFill>
          <a:ln/>
        </p:spPr>
      </p:sp>
      <p:pic>
        <p:nvPicPr>
          <p:cNvPr id="6" name="Icono ajustes (símbolo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D3B2B"/>
                </a:solidFill>
              </a:rPr>
              <a:t>Ajustes realizados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1B12"/>
                </a:solidFill>
              </a:rPr>
              <a:t>Fuera del PMV: agendamiento de reuniones y sistema de recompensas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1B12"/>
                </a:solidFill>
              </a:rPr>
              <a:t>Épica 1 incluye el login: 16 PF; backlog total de 37 PF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1B12"/>
                </a:solidFill>
              </a:rPr>
              <a:t>Auditoría con pantalla de consulta para el Administrador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1B12"/>
                </a:solidFill>
              </a:rPr>
              <a:t>Revisión del código: 11 brechas convertidas en tareas (T1–T11)</a:t>
            </a:r>
            <a:endParaRPr lang="en-US" sz="1500" dirty="0"/>
          </a:p>
        </p:txBody>
      </p:sp>
      <p:sp>
        <p:nvSpPr>
          <p:cNvPr id="9" name="Icono Sprint 5 (S9)"/>
          <p:cNvSpPr/>
          <p:nvPr/>
        </p:nvSpPr>
        <p:spPr>
          <a:xfrm>
            <a:off x="6309360" y="1691640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0" name="Icono Sprint 5 (S9) (símbolo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368" y="1849648"/>
            <a:ext cx="342351" cy="342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6459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Sprint 5 (S9)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2011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Transacción en asistencia, ver quiénes confirmaron, pruebas automatizadas y CI</a:t>
            </a:r>
            <a:endParaRPr lang="en-US" sz="1400" dirty="0"/>
          </a:p>
        </p:txBody>
      </p:sp>
      <p:sp>
        <p:nvSpPr>
          <p:cNvPr id="13" name="Icono Sprints 7–8 (S11–S12)"/>
          <p:cNvSpPr/>
          <p:nvPr/>
        </p:nvSpPr>
        <p:spPr>
          <a:xfrm>
            <a:off x="6309360" y="2852928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4" name="Icono Sprints 7–8 (S11–S12) (símbolo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368" y="3010936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32320" y="28072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Sprints 7–8 (S11–S12)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132320" y="31729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Agente IA con RAG: el modelo nunca accede a la base de datos</a:t>
            </a:r>
            <a:endParaRPr lang="en-US" sz="1400" dirty="0"/>
          </a:p>
        </p:txBody>
      </p:sp>
      <p:sp>
        <p:nvSpPr>
          <p:cNvPr id="17" name="Icono Sprint 9 (S13)"/>
          <p:cNvSpPr/>
          <p:nvPr/>
        </p:nvSpPr>
        <p:spPr>
          <a:xfrm>
            <a:off x="6309360" y="4014216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8" name="Icono Sprint 9 (S13) (símbolo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368" y="4172224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32320" y="396849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Sprint 9 (S13)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132320" y="433425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Alertas tempranas: promedio bajo 4,0 o asistencia bajo 85 %</a:t>
            </a:r>
            <a:endParaRPr lang="en-US" sz="1400" dirty="0"/>
          </a:p>
        </p:txBody>
      </p:sp>
      <p:sp>
        <p:nvSpPr>
          <p:cNvPr id="21" name="Icono Sprint 10 (S14)"/>
          <p:cNvSpPr/>
          <p:nvPr/>
        </p:nvSpPr>
        <p:spPr>
          <a:xfrm>
            <a:off x="6309360" y="5175504"/>
            <a:ext cx="658368" cy="658368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22" name="Icono Sprint 10 (S14) (símbolo)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368" y="5333512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51297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Sprint 10 (S14)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132320" y="549554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Docker, despliegue en AWS con HTTPS, pruebas y manual técnico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07 · PERFIL DE EGRESO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Competencias del perfil que el proyecto pone en práctica</a:t>
            </a:r>
            <a:endParaRPr lang="en-US" sz="2800" dirty="0"/>
          </a:p>
        </p:txBody>
      </p:sp>
      <p:sp>
        <p:nvSpPr>
          <p:cNvPr id="4" name="Competencia 1"/>
          <p:cNvSpPr/>
          <p:nvPr/>
        </p:nvSpPr>
        <p:spPr>
          <a:xfrm>
            <a:off x="548640" y="1600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4A2E21"/>
          </a:solidFill>
          <a:ln/>
        </p:spPr>
      </p:sp>
      <p:sp>
        <p:nvSpPr>
          <p:cNvPr id="5" name="Icono competencia 1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6" name="Icono competencia 1 (símbolo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74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3.1 Diseña modelos de datos escalables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51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Modelo relacional de 13 tablas con integridad en la base de datos y auditoría en JSONB.</a:t>
            </a:r>
            <a:endParaRPr lang="en-US" sz="1400" dirty="0"/>
          </a:p>
        </p:txBody>
      </p:sp>
      <p:sp>
        <p:nvSpPr>
          <p:cNvPr id="9" name="Competencia 2"/>
          <p:cNvSpPr/>
          <p:nvPr/>
        </p:nvSpPr>
        <p:spPr>
          <a:xfrm>
            <a:off x="6172200" y="1600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4A2E21"/>
          </a:solidFill>
          <a:ln/>
        </p:spPr>
      </p:sp>
      <p:sp>
        <p:nvSpPr>
          <p:cNvPr id="10" name="Icono competencia 2"/>
          <p:cNvSpPr/>
          <p:nvPr/>
        </p:nvSpPr>
        <p:spPr>
          <a:xfrm>
            <a:off x="6446520" y="1874520"/>
            <a:ext cx="731520" cy="7315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1" name="Icono competencia 2 (símbolo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20500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874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3.2 Implementa modelos de datos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651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PostgreSQL con restricciones CHECK y UNIQUE, datos semilla y consultas parametrizadas.</a:t>
            </a:r>
            <a:endParaRPr lang="en-US" sz="1400" dirty="0"/>
          </a:p>
        </p:txBody>
      </p:sp>
      <p:sp>
        <p:nvSpPr>
          <p:cNvPr id="14" name="Competencia 3"/>
          <p:cNvSpPr/>
          <p:nvPr/>
        </p:nvSpPr>
        <p:spPr>
          <a:xfrm>
            <a:off x="548640" y="3886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4A2E21"/>
          </a:solidFill>
          <a:ln/>
        </p:spPr>
      </p:sp>
      <p:sp>
        <p:nvSpPr>
          <p:cNvPr id="15" name="Icono competencia 3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6" name="Icono competencia 3 (símbolo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43360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160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4.1 Construye soluciones de software sistematizando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937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Scrum, historias con criterios de aceptación y Definition of Done.</a:t>
            </a:r>
            <a:endParaRPr lang="en-US" sz="1400" dirty="0"/>
          </a:p>
        </p:txBody>
      </p:sp>
      <p:sp>
        <p:nvSpPr>
          <p:cNvPr id="19" name="Competencia 4"/>
          <p:cNvSpPr/>
          <p:nvPr/>
        </p:nvSpPr>
        <p:spPr>
          <a:xfrm>
            <a:off x="6172200" y="38862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4A2E21"/>
          </a:solidFill>
          <a:ln/>
        </p:spPr>
      </p:sp>
      <p:sp>
        <p:nvSpPr>
          <p:cNvPr id="20" name="Icono competencia 4"/>
          <p:cNvSpPr/>
          <p:nvPr/>
        </p:nvSpPr>
        <p:spPr>
          <a:xfrm>
            <a:off x="6446520" y="4160520"/>
            <a:ext cx="731520" cy="7315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21" name="Icono competencia 4 (símbolo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43360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160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4.2 Integra componentes de software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9377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BD3B3"/>
                </a:solidFill>
              </a:rPr>
              <a:t>App Expo + API REST + PostgreSQL; en la Épica 3, Gemini con RAG.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BD3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08 · DESARROLLO PROFESIONAL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Fernando Pavez</a:t>
            </a:r>
            <a:endParaRPr lang="en-US" sz="2800" dirty="0"/>
          </a:p>
        </p:txBody>
      </p:sp>
      <p:sp>
        <p:nvSpPr>
          <p:cNvPr id="4" name="Perfil Fernando Pavez"/>
          <p:cNvSpPr/>
          <p:nvPr/>
        </p:nvSpPr>
        <p:spPr>
          <a:xfrm>
            <a:off x="548640" y="1600200"/>
            <a:ext cx="3657600" cy="4526280"/>
          </a:xfrm>
          <a:prstGeom prst="roundRect">
            <a:avLst>
              <a:gd name="adj" fmla="val 3000"/>
            </a:avLst>
          </a:prstGeom>
          <a:solidFill>
            <a:srgbClr val="5D3B2B"/>
          </a:solidFill>
          <a:ln/>
        </p:spPr>
      </p:sp>
      <p:sp>
        <p:nvSpPr>
          <p:cNvPr id="5" name="Icono Fernando Pavez"/>
          <p:cNvSpPr/>
          <p:nvPr/>
        </p:nvSpPr>
        <p:spPr>
          <a:xfrm>
            <a:off x="1783080" y="1920240"/>
            <a:ext cx="1188720" cy="11887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6" name="Icono Fernando Pavez (símbolo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373" y="2205533"/>
            <a:ext cx="618134" cy="6181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Fernando Pavez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793F"/>
                </a:solidFill>
              </a:rPr>
              <a:t>Líder de Proyecto · Backend y Datos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26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BD3B3"/>
                </a:solidFill>
              </a:rPr>
              <a:t>Intereses: arquitectura backend, ingeniería de datos e Inteligencia de Negocios, e IA generativa.</a:t>
            </a:r>
            <a:endParaRPr lang="en-US" sz="1300" dirty="0"/>
          </a:p>
        </p:txBody>
      </p:sp>
      <p:sp>
        <p:nvSpPr>
          <p:cNvPr id="10" name="Lo que el proyecto me aportó"/>
          <p:cNvSpPr/>
          <p:nvPr/>
        </p:nvSpPr>
        <p:spPr>
          <a:xfrm>
            <a:off x="4572000" y="1600200"/>
            <a:ext cx="7086600" cy="1371600"/>
          </a:xfrm>
          <a:prstGeom prst="roundRect">
            <a:avLst>
              <a:gd name="adj" fmla="val 8000"/>
            </a:avLst>
          </a:prstGeom>
          <a:solidFill>
            <a:srgbClr val="F6E6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Lo que el proyecto me aportó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148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Diseñar un backend seguro de verdad: control de acceso por rol, filtros por relación y una auditoría que no se puede saltar.</a:t>
            </a:r>
            <a:endParaRPr lang="en-US" sz="1400" dirty="0"/>
          </a:p>
        </p:txBody>
      </p:sp>
      <p:sp>
        <p:nvSpPr>
          <p:cNvPr id="13" name="Lo que estoy fortaleciendo"/>
          <p:cNvSpPr/>
          <p:nvPr/>
        </p:nvSpPr>
        <p:spPr>
          <a:xfrm>
            <a:off x="4572000" y="3154680"/>
            <a:ext cx="7086600" cy="1371600"/>
          </a:xfrm>
          <a:prstGeom prst="roundRect">
            <a:avLst>
              <a:gd name="adj" fmla="val 8000"/>
            </a:avLst>
          </a:prstGeom>
          <a:solidFill>
            <a:srgbClr val="F6E6C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3291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Lo que estoy fortaleciendo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703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Programar soluciones complejas con más autonomía, dependiendo menos de la documentación y de las herramientas de asistencia.</a:t>
            </a:r>
            <a:endParaRPr lang="en-US" sz="1400" dirty="0"/>
          </a:p>
        </p:txBody>
      </p:sp>
      <p:sp>
        <p:nvSpPr>
          <p:cNvPr id="16" name="Cómo me proyecto"/>
          <p:cNvSpPr/>
          <p:nvPr/>
        </p:nvSpPr>
        <p:spPr>
          <a:xfrm>
            <a:off x="4572000" y="4709160"/>
            <a:ext cx="7086600" cy="1371600"/>
          </a:xfrm>
          <a:prstGeom prst="roundRect">
            <a:avLst>
              <a:gd name="adj" fmla="val 8000"/>
            </a:avLst>
          </a:prstGeom>
          <a:solidFill>
            <a:srgbClr val="F6E6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46320" y="4846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Cómo me proyecto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5257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Liderar equipos de datos o backend en proyectos que integren IA y analítica predictiva, como las alertas tempranas de SalaAbierta.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08 · DESARROLLO PROFESIONAL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Catalina Aguilar</a:t>
            </a:r>
            <a:endParaRPr lang="en-US" sz="2800" dirty="0"/>
          </a:p>
        </p:txBody>
      </p:sp>
      <p:sp>
        <p:nvSpPr>
          <p:cNvPr id="4" name="Perfil Catalina Aguilar"/>
          <p:cNvSpPr/>
          <p:nvPr/>
        </p:nvSpPr>
        <p:spPr>
          <a:xfrm>
            <a:off x="548640" y="1600200"/>
            <a:ext cx="3657600" cy="4526280"/>
          </a:xfrm>
          <a:prstGeom prst="roundRect">
            <a:avLst>
              <a:gd name="adj" fmla="val 3000"/>
            </a:avLst>
          </a:prstGeom>
          <a:solidFill>
            <a:srgbClr val="5D3B2B"/>
          </a:solidFill>
          <a:ln/>
        </p:spPr>
      </p:sp>
      <p:sp>
        <p:nvSpPr>
          <p:cNvPr id="5" name="Icono Catalina Aguilar"/>
          <p:cNvSpPr/>
          <p:nvPr/>
        </p:nvSpPr>
        <p:spPr>
          <a:xfrm>
            <a:off x="1783080" y="1920240"/>
            <a:ext cx="1188720" cy="118872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6" name="Icono Catalina Aguilar (símbolo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373" y="2205533"/>
            <a:ext cx="618134" cy="6181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Catalina Aguilar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793F"/>
                </a:solidFill>
              </a:rPr>
              <a:t>Arquitecta de Software · Frontend Móvil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26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BD3B3"/>
                </a:solidFill>
              </a:rPr>
              <a:t>Intereses: desarrollo de aplicaciones móviles, ciencia de datos y dirección de proyectos.</a:t>
            </a:r>
            <a:endParaRPr lang="en-US" sz="1300" dirty="0"/>
          </a:p>
        </p:txBody>
      </p:sp>
      <p:sp>
        <p:nvSpPr>
          <p:cNvPr id="10" name="Lo que el proyecto me aportó"/>
          <p:cNvSpPr/>
          <p:nvPr/>
        </p:nvSpPr>
        <p:spPr>
          <a:xfrm>
            <a:off x="4572000" y="1600200"/>
            <a:ext cx="7086600" cy="1371600"/>
          </a:xfrm>
          <a:prstGeom prst="roundRect">
            <a:avLst>
              <a:gd name="adj" fmla="val 8000"/>
            </a:avLst>
          </a:prstGeom>
          <a:solidFill>
            <a:srgbClr val="F6E6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1737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Lo que el proyecto me aportó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148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Llevar el diseño a una app real y multiplataforma, y ordenar el trabajo con Scrum y artefactos ágiles verificables.</a:t>
            </a:r>
            <a:endParaRPr lang="en-US" sz="1400" dirty="0"/>
          </a:p>
        </p:txBody>
      </p:sp>
      <p:sp>
        <p:nvSpPr>
          <p:cNvPr id="13" name="Lo que estoy fortaleciendo"/>
          <p:cNvSpPr/>
          <p:nvPr/>
        </p:nvSpPr>
        <p:spPr>
          <a:xfrm>
            <a:off x="4572000" y="3154680"/>
            <a:ext cx="7086600" cy="1371600"/>
          </a:xfrm>
          <a:prstGeom prst="roundRect">
            <a:avLst>
              <a:gd name="adj" fmla="val 8000"/>
            </a:avLst>
          </a:prstGeom>
          <a:solidFill>
            <a:srgbClr val="F6E6C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3291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Lo que estoy fortaleciendo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703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La ejecución técnica y la programación, para implementar por completo las arquitecturas que diseño.</a:t>
            </a:r>
            <a:endParaRPr lang="en-US" sz="1400" dirty="0"/>
          </a:p>
        </p:txBody>
      </p:sp>
      <p:sp>
        <p:nvSpPr>
          <p:cNvPr id="16" name="Cómo me proyecto"/>
          <p:cNvSpPr/>
          <p:nvPr/>
        </p:nvSpPr>
        <p:spPr>
          <a:xfrm>
            <a:off x="4572000" y="4709160"/>
            <a:ext cx="7086600" cy="1371600"/>
          </a:xfrm>
          <a:prstGeom prst="roundRect">
            <a:avLst>
              <a:gd name="adj" fmla="val 8000"/>
            </a:avLst>
          </a:prstGeom>
          <a:solidFill>
            <a:srgbClr val="F6E6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46320" y="4846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D3B2B"/>
                </a:solidFill>
              </a:rPr>
              <a:t>Cómo me proyecto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5257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</a:rPr>
              <a:t>Trabajar como analista de datos o liderar equipos de desarrollo en proyectos con impacto social, como la educación.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logo"/>
          <p:cNvSpPr/>
          <p:nvPr/>
        </p:nvSpPr>
        <p:spPr>
          <a:xfrm>
            <a:off x="731520" y="548640"/>
            <a:ext cx="1417320" cy="178308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</p:spPr>
      </p:sp>
      <p:pic>
        <p:nvPicPr>
          <p:cNvPr id="3" name="Logo SalaAbierta" descr="/tmp/claude-0/-home-claude/7839b4fc-ce85-5668-93e5-13c738bda02f/scratchpad/f1/un/ppt/media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630936"/>
            <a:ext cx="1143000" cy="161848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31520" y="2331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Demo en funcionamiento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Video de 3 minutos</a:t>
            </a:r>
            <a:endParaRPr lang="en-US" sz="2000" dirty="0"/>
          </a:p>
        </p:txBody>
      </p:sp>
      <p:sp>
        <p:nvSpPr>
          <p:cNvPr id="6" name="Paso 1"/>
          <p:cNvSpPr/>
          <p:nvPr/>
        </p:nvSpPr>
        <p:spPr>
          <a:xfrm>
            <a:off x="731520" y="4069080"/>
            <a:ext cx="384048" cy="384048"/>
          </a:xfrm>
          <a:prstGeom prst="ellipse">
            <a:avLst/>
          </a:prstGeom>
          <a:solidFill>
            <a:srgbClr val="C9793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4069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Login y error de credenciales</a:t>
            </a:r>
            <a:endParaRPr lang="en-US" sz="1600" dirty="0"/>
          </a:p>
        </p:txBody>
      </p:sp>
      <p:sp>
        <p:nvSpPr>
          <p:cNvPr id="9" name="Paso 2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C979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4617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Profesor: asistencia, notas, anotación y anuncio</a:t>
            </a:r>
            <a:endParaRPr lang="en-US" sz="1600" dirty="0"/>
          </a:p>
        </p:txBody>
      </p:sp>
      <p:sp>
        <p:nvSpPr>
          <p:cNvPr id="12" name="Paso 3"/>
          <p:cNvSpPr/>
          <p:nvPr/>
        </p:nvSpPr>
        <p:spPr>
          <a:xfrm>
            <a:off x="731520" y="5166360"/>
            <a:ext cx="384048" cy="384048"/>
          </a:xfrm>
          <a:prstGeom prst="ellipse">
            <a:avLst/>
          </a:prstGeom>
          <a:solidFill>
            <a:srgbClr val="C979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51663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Apoderado: notas, asistencia y confirmación en el muro</a:t>
            </a:r>
            <a:endParaRPr lang="en-US" sz="1600" dirty="0"/>
          </a:p>
        </p:txBody>
      </p:sp>
      <p:sp>
        <p:nvSpPr>
          <p:cNvPr id="15" name="Paso 4"/>
          <p:cNvSpPr/>
          <p:nvPr/>
        </p:nvSpPr>
        <p:spPr>
          <a:xfrm>
            <a:off x="731520" y="5715000"/>
            <a:ext cx="384048" cy="384048"/>
          </a:xfrm>
          <a:prstGeom prst="ellipse">
            <a:avLst/>
          </a:prstGeom>
          <a:solidFill>
            <a:srgbClr val="C979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5715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Administrador: auditoría de los cambios</a:t>
            </a:r>
            <a:endParaRPr lang="en-US" sz="1600" dirty="0"/>
          </a:p>
        </p:txBody>
      </p:sp>
      <p:sp>
        <p:nvSpPr>
          <p:cNvPr id="18" name="Icono reproducir video"/>
          <p:cNvSpPr/>
          <p:nvPr/>
        </p:nvSpPr>
        <p:spPr>
          <a:xfrm>
            <a:off x="9464040" y="2651760"/>
            <a:ext cx="1554480" cy="1554480"/>
          </a:xfrm>
          <a:prstGeom prst="ellipse">
            <a:avLst/>
          </a:prstGeom>
          <a:solidFill>
            <a:srgbClr val="C9793F"/>
          </a:solidFill>
          <a:ln/>
        </p:spPr>
      </p:sp>
      <p:pic>
        <p:nvPicPr>
          <p:cNvPr id="19" name="Icono reproducir video (símbolo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115" y="3024835"/>
            <a:ext cx="808330" cy="808330"/>
          </a:xfrm>
          <a:prstGeom prst="rect">
            <a:avLst/>
          </a:prstGeom>
        </p:spPr>
      </p:pic>
      <p:sp>
        <p:nvSpPr>
          <p:cNvPr id="20" name="Cierre"/>
          <p:cNvSpPr/>
          <p:nvPr/>
        </p:nvSpPr>
        <p:spPr>
          <a:xfrm>
            <a:off x="8641080" y="443484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5D3B2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64108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Gracias</a:t>
            </a:r>
            <a:endParaRPr lang="en-US" sz="2800" dirty="0"/>
          </a:p>
        </p:txBody>
      </p:sp>
      <p:sp>
        <p:nvSpPr>
          <p:cNvPr id="22" name="Text 18"/>
          <p:cNvSpPr txBox="1"/>
          <p:nvPr/>
        </p:nvSpPr>
        <p:spPr>
          <a:xfrm>
            <a:off x="864108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3B3"/>
                </a:solidFill>
              </a:rPr>
              <a:t>github.com/Koryyy1/SalaAbierta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aAbierta">
  <a:themeElements>
    <a:clrScheme name="SalaAbierta">
      <a:dk1>
        <a:srgbClr val="2A1B12"/>
      </a:dk1>
      <a:lt1>
        <a:srgbClr val="FFFFFF"/>
      </a:lt1>
      <a:dk2>
        <a:srgbClr val="5D3B2B"/>
      </a:dk2>
      <a:lt2>
        <a:srgbClr val="F6E6CF"/>
      </a:lt2>
      <a:accent1>
        <a:srgbClr val="C9793F"/>
      </a:accent1>
      <a:accent2>
        <a:srgbClr val="5D3B2B"/>
      </a:accent2>
      <a:accent3>
        <a:srgbClr val="3E7D3A"/>
      </a:accent3>
      <a:accent4>
        <a:srgbClr val="B26A00"/>
      </a:accent4>
      <a:accent5>
        <a:srgbClr val="8A6A55"/>
      </a:accent5>
      <a:accent6>
        <a:srgbClr val="9A8F87"/>
      </a:accent6>
      <a:hlink>
        <a:srgbClr val="C9793F"/>
      </a:hlink>
      <a:folHlink>
        <a:srgbClr val="8A6A55"/>
      </a:folHlink>
    </a:clrScheme>
    <a:fontScheme name="SalaAbier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SalaAbierta - Evaluación Sumativa 2</dc:title>
  <dc:subject>PptxGenJS Presentation</dc:subject>
  <dc:creator>Fernando Pavez, Catalina Aguilar</dc:creator>
  <cp:lastModifiedBy>Fernando Pavez, Catalina Aguilar</cp:lastModifiedBy>
  <cp:revision>1</cp:revision>
  <dcterms:created xsi:type="dcterms:W3CDTF">2026-10-18T22:36:13Z</dcterms:created>
  <dcterms:modified xsi:type="dcterms:W3CDTF">2026-10-18T22:36:13Z</dcterms:modified>
</cp:coreProperties>
</file>